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thank you for having us. We are team CardioNTUA: Evangelie Sintou, our clinician, and Athanasia Karagiannopoulou, Anna Panagiotakopoulou and Alexandros Barmperis, ML engineers.</a:t>
            </a:r>
          </a:p>
          <a:p>
            <a:r>
              <a:t>We are going to talk about a question that is not asked enough after a patient's aortic valve replacement: once we have chosen a bioprosthetic valve, how do we know when to look again?</a:t>
            </a:r>
          </a:p>
          <a:p>
            <a:r>
              <a:t>Our project is a model that predicts a patient's risk of structural valve deterioration at every echo and uses it to turn follow-up into a personalised surveillance plan instead of a one-size-fits-all calendar.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SVD is the permanent, intrinsic deterioration of a bioprosthetic valve: fibrosis, calcification, tearing. It is why durability is finite in a way it is not for mechanical valves.</a:t>
            </a:r>
          </a:p>
          <a:p>
            <a:r>
              <a:t>The figure shows the difficulty. The valve's true gradient rises slowly; each annual echo reads it with noise, so an isolated reading can cross the threshold and reverse the next year. Velders found that 59 to 65 percent of first SVD calls do not hold at the next echo. A label therefore needs two consecutive abnormal echoes, and in our calibrated simulation that confirmation comes a mean 1.5 years after the true crossing, almost 3 years for one patient in ten.</a:t>
            </a:r>
          </a:p>
          <a:p>
            <a:r>
              <a:t>Durability also differs by valve: NOTION shows a real gap between SAVR and TAVI at ten years. A noisy signal, confirmed slowly. That is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signal is this noisy and this slow to confirm, you would hope the surveillance built around it was adaptive. It is not.</a:t>
            </a:r>
          </a:p>
          <a:p>
            <a:r>
              <a:t>The guideline calls for the same echo, within three months, at one year and then every year, for essentially every patient, regardless of valve, age, or how the valve is trending. In practice the calendar leaks: about 35 percent of patients have missed their visit by year four, about 30 percent have no reference echo to measure change against, and there is no rule for confirming an abnormal reading before acting on it.</a:t>
            </a:r>
          </a:p>
          <a:p>
            <a:r>
              <a:t>The cost is not abstract: urgent redo surgery carries 22.6 percent mortality against 1.4 percent electively. At the same time we over-test low-risk patients while valve-in-valve volumes climb. We spend surveillance effort in the wrong places.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Clinicians already exercise judgement at the point of valve choice. Our hypothesis is that the same personalised thinking should extend into follow-up: a risk model, updated at every echo, that lengthens intervals for valves that are stable and shortens them for valves that are starting to deteriorate.</a:t>
            </a:r>
          </a:p>
          <a:p>
            <a:r>
              <a:t>The figure shows the idea: a stable valve is seen at 1, 3, 6 and 9 years; a valve whose gradient starts to rise is seen more often, and the first abnormal reading triggers a confirmation echo.</a:t>
            </a:r>
          </a:p>
          <a:p>
            <a:r>
              <a:t>We fixed the targets before running anything: at least 25 percent fewer echoes, no more than three months of added detection delay, on average and for the slowest-detected tenth, and earlier confirmation for the high-risk valves.</a:t>
            </a:r>
          </a:p>
          <a:p>
            <a:r>
              <a:t>[Hand over to the engineer for the study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population is any adult with a first bioprosthetic valve, surgical or transcatheter, with the valve model recorded and at least one follow-up echo. We exclude what would confound gradients: mechanical valves, valve-in-valve as the index procedure, multiple prostheses.</a:t>
            </a:r>
          </a:p>
          <a:p>
            <a:r>
              <a:t>The primary endpoint is VARC-3 moderate SVD confirmed on two consecutive echoes, with death as a competing risk. Confirmation is what removes the label noise from the second slide.</a:t>
            </a:r>
          </a:p>
          <a:p>
            <a:r>
              <a:t>Ground truth is a hierarchy: pathology, then a reintervention for SVD, then the echo criteria, then adjudication. And we fixed the usefulness bar before running anything: AUC 0.75, calibration slope within 0.8 to 1.2, and the surveillance target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deployment the data already exists: the echo reporting database gives the serial measurements, the STS and TVT registries give the valve and the comorbidities, the EHR fills the gaps through local language-model extraction, and claims linkage catches reinterventions and deaths elsewhere. The one dependency is a linkage key.</a:t>
            </a:r>
          </a:p>
          <a:p>
            <a:r>
              <a:t>For the prototype there is no public dataset with serial prosthetic-valve echoes, so we built one and made it accountable. We reconstructed patient-level data from three published durability curves with the Guyot algorithm, 112 checks pass. We built a simulator where the only thing that degenerates is the valve's true orifice area; gradients follow from flow physics anchored to the ASE normal-value tables, and echo noise is calibrated to the Velders label-flicker statistics.</a:t>
            </a:r>
          </a:p>
          <a:p>
            <a:r>
              <a:t>We calibrated it to the reconstructed curves, and as a test we predicted the NOTION surgical arm with no free parameter: 21.6 percent against the published 20.7. The result is 10,000 valves and 50,000 echoes, with the true deterioration kept aside so we can audit the labels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is where surveillance models usually cheat, so three rules. Split by valve, never by echo. Date the outcome at the confirming echo, so the model never sees a future echo; the figure shows where a prediction is made and what it may use. And treat death as a competing risk, because forty percent of this cohort dies during follow-up.</a:t>
            </a:r>
          </a:p>
          <a:p>
            <a:r>
              <a:t>We report cause-specific AUC and C-index, but also calibration, because a schedule needs the absolute risk right. And we report everything separately on echoes that are not yet abnormal, because that is where the decision to wait is taken.</a:t>
            </a:r>
          </a:p>
          <a:p>
            <a:r>
              <a:t>The comparators are the honest ones: time since implant, which is what the guideline assumes; the published risk-factor Cox model; and for surveillance, the guideline schedule with and without a confirmation echo. The simulation also gave us the sample size: 5,000 valves bring the AUC interval down to two points.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discrete-time cause-specific hazard model. Every echo is a landmark. We cut the time after it into six-month periods and a gradient-boosted classifier gives, for each period, the hazard of confirmed SVD and of a competing event. Summing survival times hazard gives the cumulative incidence over any horizon, so the same model answers the scheduling question directly: what is the risk if we wait six, twelve or thirty-six months?</a:t>
            </a:r>
          </a:p>
          <a:p>
            <a:r>
              <a:t>Features come in three groups: the patient and valve at baseline, the reference echo, and the trajectory since then: change from reference, a smoothed gradient, slope, prior abnormal echoes. The SHAP chart shows what drives the prediction: approach, valve model, the horizon, the change in gradient, time since implant.</a:t>
            </a:r>
          </a:p>
          <a:p>
            <a:r>
              <a:t>The output is a result card: the risk, a tier, the top three drivers, and the next echo interval. Two safety rules sit outside the model: any single abnormal echo triggers a confirmation echo, and symptoms always override the schedule. The model schedules surveillance; it never recommends reintervention.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held-out valves the dynamic model reaches an AUC of 0.875 on echoes that are not yet abnormal, against 0.65 for time since implant, which is what the guideline implicitly uses. Calibration slope 1.04, so the absolute risks are usable. At implant time the boosted model beats the published risk-factor Cox at every horizon.</a:t>
            </a:r>
          </a:p>
          <a:p>
            <a:r>
              <a:t>The right chart is the surveillance experiment, six schedules on identical simulated patients. Two findings. The confirmation echo alone cuts the mean delay from 1.5 to 1.1 years. And the risk-adapted schedule with a one percent rule uses 44 percent fewer echoes than guideline-plus-confirmation, at plus 0.7 months mean delay, inside our three-month bound.</a:t>
            </a:r>
          </a:p>
          <a:p>
            <a:r>
              <a:t>Two honest numbers. Because the simulator keeps the truth, we audited the label: even the confirmed VARC-3 label detects only 60 percent of true deterioration, with a median lag of 1.5 years. And on the 26 real de-identified patients we could adjudicate, the label rule behaved as simulated, 86 percent sensitive, 89 percent specific, but that is face validity, not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enables is a surveillance interval per valve, recomputed at every echo, with a confirmation rule built in, and something no registry can do: an audit of the SVD definitions themselves against the truth.</a:t>
            </a:r>
          </a:p>
          <a:p>
            <a:r>
              <a:t>To prove it we need a linked echo database with the STS and TVT registries at a few centres, with exact dates and ages, and then an external system. In the next three months we would run this same pipeline on one institution's echo database, the schema is already registry-shaped, and then evaluate it in silent mode.</a:t>
            </a:r>
          </a:p>
          <a:p>
            <a:r>
              <a:t>Where we stand: the code, the data dictionary and every report are public and reproducible; the real-world performance is unproven until external validation.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778240" y="-2011680"/>
            <a:ext cx="5943600" cy="5943600"/>
          </a:xfrm>
          <a:prstGeom prst="ellipse">
            <a:avLst/>
          </a:prstGeom>
          <a:solidFill>
            <a:srgbClr val="2431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286000" y="4389120"/>
            <a:ext cx="5029200" cy="5029200"/>
          </a:xfrm>
          <a:prstGeom prst="ellipse">
            <a:avLst/>
          </a:prstGeom>
          <a:solidFill>
            <a:srgbClr val="2431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_s1_1.png"/>
          <p:cNvPicPr>
            <a:picLocks noChangeAspect="1"/>
          </p:cNvPicPr>
          <p:nvPr/>
        </p:nvPicPr>
        <p:blipFill>
          <a:blip r:embed="rId2"/>
          <a:stretch>
            <a:fillRect/>
          </a:stretch>
        </p:blipFill>
        <p:spPr>
          <a:xfrm>
            <a:off x="5550408" y="914400"/>
            <a:ext cx="1097280" cy="1097280"/>
          </a:xfrm>
          <a:prstGeom prst="rect">
            <a:avLst/>
          </a:prstGeom>
        </p:spPr>
      </p:pic>
      <p:sp>
        <p:nvSpPr>
          <p:cNvPr id="5" name="TextBox 4"/>
          <p:cNvSpPr txBox="1"/>
          <p:nvPr/>
        </p:nvSpPr>
        <p:spPr>
          <a:xfrm>
            <a:off x="731520" y="2286000"/>
            <a:ext cx="10698480" cy="914400"/>
          </a:xfrm>
          <a:prstGeom prst="rect">
            <a:avLst/>
          </a:prstGeom>
          <a:noFill/>
        </p:spPr>
        <p:txBody>
          <a:bodyPr wrap="square" lIns="45720" rIns="45720" tIns="27432" bIns="27432" anchor="ctr">
            <a:spAutoFit/>
          </a:bodyPr>
          <a:lstStyle/>
          <a:p>
            <a:pPr algn="ctr">
              <a:lnSpc>
                <a:spcPct val="112000"/>
              </a:lnSpc>
              <a:spcAft>
                <a:spcPts val="300"/>
              </a:spcAft>
            </a:pPr>
            <a:r>
              <a:rPr sz="4000" b="1" i="0">
                <a:solidFill>
                  <a:srgbClr val="FFFFFF"/>
                </a:solidFill>
                <a:latin typeface="Cambria"/>
              </a:rPr>
              <a:t>Knowing When to Look Again</a:t>
            </a:r>
          </a:p>
        </p:txBody>
      </p:sp>
      <p:sp>
        <p:nvSpPr>
          <p:cNvPr id="6" name="TextBox 5"/>
          <p:cNvSpPr txBox="1"/>
          <p:nvPr/>
        </p:nvSpPr>
        <p:spPr>
          <a:xfrm>
            <a:off x="1280160" y="3200400"/>
            <a:ext cx="9601200" cy="731520"/>
          </a:xfrm>
          <a:prstGeom prst="rect">
            <a:avLst/>
          </a:prstGeom>
          <a:noFill/>
        </p:spPr>
        <p:txBody>
          <a:bodyPr wrap="square" lIns="45720" rIns="45720" tIns="27432" bIns="27432" anchor="ctr">
            <a:spAutoFit/>
          </a:bodyPr>
          <a:lstStyle/>
          <a:p>
            <a:pPr algn="ctr">
              <a:lnSpc>
                <a:spcPct val="112000"/>
              </a:lnSpc>
              <a:spcAft>
                <a:spcPts val="300"/>
              </a:spcAft>
            </a:pPr>
            <a:r>
              <a:rPr sz="1800" b="0" i="0">
                <a:solidFill>
                  <a:srgbClr val="CADCFC"/>
                </a:solidFill>
                <a:latin typeface="Calibri"/>
              </a:rPr>
              <a:t>Dynamic risk of structural valve deterioration to personalise echo surveillance after bioprosthetic aortic valve replacement</a:t>
            </a:r>
          </a:p>
        </p:txBody>
      </p:sp>
      <p:sp>
        <p:nvSpPr>
          <p:cNvPr id="7" name="TextBox 6"/>
          <p:cNvSpPr txBox="1"/>
          <p:nvPr/>
        </p:nvSpPr>
        <p:spPr>
          <a:xfrm>
            <a:off x="1280160" y="4343400"/>
            <a:ext cx="9601200" cy="457200"/>
          </a:xfrm>
          <a:prstGeom prst="rect">
            <a:avLst/>
          </a:prstGeom>
          <a:noFill/>
        </p:spPr>
        <p:txBody>
          <a:bodyPr wrap="square" lIns="45720" rIns="45720" tIns="27432" bIns="27432" anchor="ctr">
            <a:spAutoFit/>
          </a:bodyPr>
          <a:lstStyle/>
          <a:p>
            <a:pPr algn="ctr">
              <a:lnSpc>
                <a:spcPct val="112000"/>
              </a:lnSpc>
              <a:spcAft>
                <a:spcPts val="300"/>
              </a:spcAft>
            </a:pPr>
            <a:r>
              <a:rPr sz="1600" b="1" i="0">
                <a:solidFill>
                  <a:srgbClr val="FFFFFF"/>
                </a:solidFill>
                <a:latin typeface="Calibri"/>
              </a:rPr>
              <a:t>Team CardioNTUA</a:t>
            </a:r>
          </a:p>
        </p:txBody>
      </p:sp>
      <p:sp>
        <p:nvSpPr>
          <p:cNvPr id="8" name="TextBox 7"/>
          <p:cNvSpPr txBox="1"/>
          <p:nvPr/>
        </p:nvSpPr>
        <p:spPr>
          <a:xfrm>
            <a:off x="822960" y="4800600"/>
            <a:ext cx="10515600" cy="731520"/>
          </a:xfrm>
          <a:prstGeom prst="rect">
            <a:avLst/>
          </a:prstGeom>
          <a:noFill/>
        </p:spPr>
        <p:txBody>
          <a:bodyPr wrap="square" lIns="45720" rIns="45720" tIns="27432" bIns="27432" anchor="ctr">
            <a:spAutoFit/>
          </a:bodyPr>
          <a:lstStyle/>
          <a:p>
            <a:pPr algn="ctr">
              <a:lnSpc>
                <a:spcPct val="112000"/>
              </a:lnSpc>
              <a:spcAft>
                <a:spcPts val="300"/>
              </a:spcAft>
            </a:pPr>
            <a:r>
              <a:rPr sz="1350" b="0" i="0">
                <a:solidFill>
                  <a:srgbClr val="CADCFC"/>
                </a:solidFill>
                <a:latin typeface="Calibri"/>
              </a:rPr>
              <a:t>Athanasia Karagiannopoulou (ML Engineer)   ·   Anna Panagiotakopoulou (ML Engineer)   ·   Evangelie Sintou (Clinician)   ·   Alexandros Barmperis (ML Engineer)</a:t>
            </a:r>
          </a:p>
        </p:txBody>
      </p:sp>
      <p:sp>
        <p:nvSpPr>
          <p:cNvPr id="9" name="TextBox 8"/>
          <p:cNvSpPr txBox="1"/>
          <p:nvPr/>
        </p:nvSpPr>
        <p:spPr>
          <a:xfrm>
            <a:off x="1280160" y="6080760"/>
            <a:ext cx="9601200" cy="365760"/>
          </a:xfrm>
          <a:prstGeom prst="rect">
            <a:avLst/>
          </a:prstGeom>
          <a:noFill/>
        </p:spPr>
        <p:txBody>
          <a:bodyPr wrap="square" lIns="45720" rIns="45720" tIns="27432" bIns="27432" anchor="t">
            <a:spAutoFit/>
          </a:bodyPr>
          <a:lstStyle/>
          <a:p>
            <a:pPr algn="ctr">
              <a:lnSpc>
                <a:spcPct val="112000"/>
              </a:lnSpc>
              <a:spcAft>
                <a:spcPts val="300"/>
              </a:spcAft>
            </a:pPr>
            <a:r>
              <a:rPr sz="1300" b="0" i="0">
                <a:solidFill>
                  <a:srgbClr val="CADCFC"/>
                </a:solidFill>
                <a:latin typeface="Calibri"/>
              </a:rPr>
              <a:t>Dyania Health Hackathon  ·  AVR durability challenge  ·  17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The clinical problem</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Deterioration is slow, silent, and hard to confirm</a:t>
            </a:r>
          </a:p>
        </p:txBody>
      </p:sp>
      <p:pic>
        <p:nvPicPr>
          <p:cNvPr id="4" name="Picture 3" descr="fig_flicker.png"/>
          <p:cNvPicPr>
            <a:picLocks noChangeAspect="1"/>
          </p:cNvPicPr>
          <p:nvPr/>
        </p:nvPicPr>
        <p:blipFill>
          <a:blip r:embed="rId2"/>
          <a:stretch>
            <a:fillRect/>
          </a:stretch>
        </p:blipFill>
        <p:spPr>
          <a:xfrm>
            <a:off x="457199" y="1618903"/>
            <a:ext cx="6309360" cy="3345872"/>
          </a:xfrm>
          <a:prstGeom prst="rect">
            <a:avLst/>
          </a:prstGeom>
        </p:spPr>
      </p:pic>
      <p:sp>
        <p:nvSpPr>
          <p:cNvPr id="5" name="TextBox 4"/>
          <p:cNvSpPr txBox="1"/>
          <p:nvPr/>
        </p:nvSpPr>
        <p:spPr>
          <a:xfrm>
            <a:off x="548640" y="5029200"/>
            <a:ext cx="6126480" cy="640080"/>
          </a:xfrm>
          <a:prstGeom prst="rect">
            <a:avLst/>
          </a:prstGeom>
          <a:noFill/>
        </p:spPr>
        <p:txBody>
          <a:bodyPr wrap="square" lIns="45720" rIns="45720" tIns="27432" bIns="27432" anchor="t">
            <a:spAutoFit/>
          </a:bodyPr>
          <a:lstStyle/>
          <a:p>
            <a:pPr algn="l">
              <a:lnSpc>
                <a:spcPct val="112000"/>
              </a:lnSpc>
              <a:spcAft>
                <a:spcPts val="300"/>
              </a:spcAft>
            </a:pPr>
            <a:r>
              <a:rPr sz="1050" b="0" i="1">
                <a:solidFill>
                  <a:srgbClr val="6B7590"/>
                </a:solidFill>
                <a:latin typeface="Calibri"/>
              </a:rPr>
              <a:t>Schematic of one valve: the true gradient (line), its annual echo readings (dots) and the VARC-3 threshold. Measurement noise creates false alarms; a label needs two consecutive abnormal echoes and arrives late.</a:t>
            </a:r>
          </a:p>
        </p:txBody>
      </p:sp>
      <p:sp>
        <p:nvSpPr>
          <p:cNvPr id="6" name="TextBox 5"/>
          <p:cNvSpPr txBox="1"/>
          <p:nvPr/>
        </p:nvSpPr>
        <p:spPr>
          <a:xfrm>
            <a:off x="7132320" y="1645920"/>
            <a:ext cx="448056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Durability differs by valve</a:t>
            </a:r>
          </a:p>
        </p:txBody>
      </p:sp>
      <p:sp>
        <p:nvSpPr>
          <p:cNvPr id="7" name="TextBox 6"/>
          <p:cNvSpPr txBox="1"/>
          <p:nvPr/>
        </p:nvSpPr>
        <p:spPr>
          <a:xfrm>
            <a:off x="7132320" y="1993392"/>
            <a:ext cx="448056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Severe SVD at 10 years: 10.0% after SAVR vs 1.5% after TAVI (NOTION); the SAVR–TAVR question is still open.</a:t>
            </a:r>
          </a:p>
        </p:txBody>
      </p:sp>
      <p:sp>
        <p:nvSpPr>
          <p:cNvPr id="8" name="TextBox 7"/>
          <p:cNvSpPr txBox="1"/>
          <p:nvPr/>
        </p:nvSpPr>
        <p:spPr>
          <a:xfrm>
            <a:off x="7132320" y="3108960"/>
            <a:ext cx="448056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The label is noisy</a:t>
            </a:r>
          </a:p>
        </p:txBody>
      </p:sp>
      <p:sp>
        <p:nvSpPr>
          <p:cNvPr id="9" name="TextBox 8"/>
          <p:cNvSpPr txBox="1"/>
          <p:nvPr/>
        </p:nvSpPr>
        <p:spPr>
          <a:xfrm>
            <a:off x="7132320" y="3456432"/>
            <a:ext cx="448056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59–65% of first SVD calls are reversed at the next echo (Velders 2024).</a:t>
            </a:r>
          </a:p>
        </p:txBody>
      </p:sp>
      <p:sp>
        <p:nvSpPr>
          <p:cNvPr id="10" name="TextBox 9"/>
          <p:cNvSpPr txBox="1"/>
          <p:nvPr/>
        </p:nvSpPr>
        <p:spPr>
          <a:xfrm>
            <a:off x="7132320" y="4343400"/>
            <a:ext cx="448056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Confirmation is late</a:t>
            </a:r>
          </a:p>
        </p:txBody>
      </p:sp>
      <p:sp>
        <p:nvSpPr>
          <p:cNvPr id="11" name="TextBox 10"/>
          <p:cNvSpPr txBox="1"/>
          <p:nvPr/>
        </p:nvSpPr>
        <p:spPr>
          <a:xfrm>
            <a:off x="7132320" y="4690872"/>
            <a:ext cx="448056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Under annual surveillance, moderate deterioration is confirmed a mean 1.5 years after onset; 2.9 years for one patient in ten (our calibrated simulation).</a:t>
            </a:r>
          </a:p>
        </p:txBody>
      </p:sp>
      <p:sp>
        <p:nvSpPr>
          <p:cNvPr id="12" name="TextBox 11"/>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Praz 2025 Eur Heart J (ESC/EACTS)  ·  Thyregod 2024 Eur Heart J (NOTION 10-year)  ·  Velders 2024 JTCVS Open  ·  Kostyunin 2020 JAHA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Current workflow</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One calendar for every patient</a:t>
            </a:r>
          </a:p>
        </p:txBody>
      </p:sp>
      <p:pic>
        <p:nvPicPr>
          <p:cNvPr id="4" name="Picture 3" descr="fig_schedule.png"/>
          <p:cNvPicPr>
            <a:picLocks noChangeAspect="1"/>
          </p:cNvPicPr>
          <p:nvPr/>
        </p:nvPicPr>
        <p:blipFill>
          <a:blip r:embed="rId2"/>
          <a:stretch>
            <a:fillRect/>
          </a:stretch>
        </p:blipFill>
        <p:spPr>
          <a:xfrm>
            <a:off x="457200" y="1571105"/>
            <a:ext cx="6400800" cy="2618509"/>
          </a:xfrm>
          <a:prstGeom prst="rect">
            <a:avLst/>
          </a:prstGeom>
        </p:spPr>
      </p:pic>
      <p:sp>
        <p:nvSpPr>
          <p:cNvPr id="5" name="TextBox 4"/>
          <p:cNvSpPr txBox="1"/>
          <p:nvPr/>
        </p:nvSpPr>
        <p:spPr>
          <a:xfrm>
            <a:off x="548640" y="4251960"/>
            <a:ext cx="6217920" cy="457200"/>
          </a:xfrm>
          <a:prstGeom prst="rect">
            <a:avLst/>
          </a:prstGeom>
          <a:noFill/>
        </p:spPr>
        <p:txBody>
          <a:bodyPr wrap="square" lIns="45720" rIns="45720" tIns="27432" bIns="27432" anchor="t">
            <a:spAutoFit/>
          </a:bodyPr>
          <a:lstStyle/>
          <a:p>
            <a:pPr algn="l">
              <a:lnSpc>
                <a:spcPct val="112000"/>
              </a:lnSpc>
              <a:spcAft>
                <a:spcPts val="300"/>
              </a:spcAft>
            </a:pPr>
            <a:r>
              <a:rPr sz="1050" b="0" i="1">
                <a:solidFill>
                  <a:srgbClr val="6B7590"/>
                </a:solidFill>
                <a:latin typeface="Calibri"/>
              </a:rPr>
              <a:t>Guideline schedule: echo within 3 months, at 1 year, then every year (ESC/EACTS 2025); ACC/AHA similar.</a:t>
            </a:r>
          </a:p>
        </p:txBody>
      </p:sp>
      <p:sp>
        <p:nvSpPr>
          <p:cNvPr id="6" name="TextBox 5"/>
          <p:cNvSpPr txBox="1"/>
          <p:nvPr/>
        </p:nvSpPr>
        <p:spPr>
          <a:xfrm>
            <a:off x="7223760" y="1645920"/>
            <a:ext cx="438912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Same echo for everyone</a:t>
            </a:r>
          </a:p>
        </p:txBody>
      </p:sp>
      <p:sp>
        <p:nvSpPr>
          <p:cNvPr id="7" name="TextBox 6"/>
          <p:cNvSpPr txBox="1"/>
          <p:nvPr/>
        </p:nvSpPr>
        <p:spPr>
          <a:xfrm>
            <a:off x="7223760" y="1993392"/>
            <a:ext cx="438912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The interval does not depend on the valve model, the patient's age or the trend of the readings.</a:t>
            </a:r>
          </a:p>
        </p:txBody>
      </p:sp>
      <p:sp>
        <p:nvSpPr>
          <p:cNvPr id="8" name="TextBox 7"/>
          <p:cNvSpPr txBox="1"/>
          <p:nvPr/>
        </p:nvSpPr>
        <p:spPr>
          <a:xfrm>
            <a:off x="7223760" y="3063240"/>
            <a:ext cx="438912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Timing errors are expensive</a:t>
            </a:r>
          </a:p>
        </p:txBody>
      </p:sp>
      <p:sp>
        <p:nvSpPr>
          <p:cNvPr id="9" name="TextBox 8"/>
          <p:cNvSpPr txBox="1"/>
          <p:nvPr/>
        </p:nvSpPr>
        <p:spPr>
          <a:xfrm>
            <a:off x="7223760" y="3410712"/>
            <a:ext cx="438912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Urgent redo surgery: 22.6% mortality vs 1.4% when elective (Cartlidge 2019).</a:t>
            </a:r>
          </a:p>
        </p:txBody>
      </p:sp>
      <p:sp>
        <p:nvSpPr>
          <p:cNvPr id="10" name="TextBox 9"/>
          <p:cNvSpPr txBox="1"/>
          <p:nvPr/>
        </p:nvSpPr>
        <p:spPr>
          <a:xfrm>
            <a:off x="7223760" y="4343400"/>
            <a:ext cx="438912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Effort in the wrong places</a:t>
            </a:r>
          </a:p>
        </p:txBody>
      </p:sp>
      <p:sp>
        <p:nvSpPr>
          <p:cNvPr id="11" name="TextBox 10"/>
          <p:cNvSpPr txBox="1"/>
          <p:nvPr/>
        </p:nvSpPr>
        <p:spPr>
          <a:xfrm>
            <a:off x="7223760" y="4690872"/>
            <a:ext cx="438912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Low-risk patients are over-tested while valve-in-valve volume heads towards 42,000 a year by 2035 (Genereux 2025).</a:t>
            </a:r>
          </a:p>
        </p:txBody>
      </p:sp>
      <p:sp>
        <p:nvSpPr>
          <p:cNvPr id="12" name="TextBox 11"/>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Praz 2025 Eur Heart J (ESC/EACTS)  ·  Otto 2021 Circulation (ACC/AHA)  ·  Cartlidge 2019 JACC  ·  Genereux 2025 Struct Heart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Hypothesis</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Let the interval follow the risk</a:t>
            </a:r>
          </a:p>
        </p:txBody>
      </p:sp>
      <p:sp>
        <p:nvSpPr>
          <p:cNvPr id="4" name="TextBox 3"/>
          <p:cNvSpPr txBox="1"/>
          <p:nvPr/>
        </p:nvSpPr>
        <p:spPr>
          <a:xfrm>
            <a:off x="548640" y="1600200"/>
            <a:ext cx="11064240" cy="822960"/>
          </a:xfrm>
          <a:prstGeom prst="rect">
            <a:avLst/>
          </a:prstGeom>
          <a:noFill/>
        </p:spPr>
        <p:txBody>
          <a:bodyPr wrap="square" lIns="45720" rIns="45720" tIns="27432" bIns="27432" anchor="t">
            <a:spAutoFit/>
          </a:bodyPr>
          <a:lstStyle/>
          <a:p>
            <a:pPr algn="l">
              <a:lnSpc>
                <a:spcPct val="112000"/>
              </a:lnSpc>
              <a:spcAft>
                <a:spcPts val="300"/>
              </a:spcAft>
            </a:pPr>
            <a:r>
              <a:rPr sz="1700" b="0" i="0">
                <a:solidFill>
                  <a:srgbClr val="1E2761"/>
                </a:solidFill>
                <a:latin typeface="Calibri"/>
              </a:rPr>
              <a:t>A risk estimate updated at every echo can lengthen the surveillance interval for stable valves and shorten it for valves that begin to deteriorate, without losing time to detection.</a:t>
            </a:r>
          </a:p>
        </p:txBody>
      </p:sp>
      <p:pic>
        <p:nvPicPr>
          <p:cNvPr id="5" name="Picture 4" descr="fig_adaptive.png"/>
          <p:cNvPicPr>
            <a:picLocks noChangeAspect="1"/>
          </p:cNvPicPr>
          <p:nvPr/>
        </p:nvPicPr>
        <p:blipFill>
          <a:blip r:embed="rId2"/>
          <a:stretch>
            <a:fillRect/>
          </a:stretch>
        </p:blipFill>
        <p:spPr>
          <a:xfrm>
            <a:off x="545782" y="2606040"/>
            <a:ext cx="6223634" cy="3017520"/>
          </a:xfrm>
          <a:prstGeom prst="rect">
            <a:avLst/>
          </a:prstGeom>
        </p:spPr>
      </p:pic>
      <p:sp>
        <p:nvSpPr>
          <p:cNvPr id="6" name="TextBox 5"/>
          <p:cNvSpPr txBox="1"/>
          <p:nvPr/>
        </p:nvSpPr>
        <p:spPr>
          <a:xfrm>
            <a:off x="7223760" y="2651760"/>
            <a:ext cx="4389120" cy="41148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Targets, fixed before any analysis</a:t>
            </a:r>
          </a:p>
        </p:txBody>
      </p:sp>
      <p:sp>
        <p:nvSpPr>
          <p:cNvPr id="7" name="TextBox 6"/>
          <p:cNvSpPr txBox="1"/>
          <p:nvPr/>
        </p:nvSpPr>
        <p:spPr>
          <a:xfrm>
            <a:off x="7223760" y="3063240"/>
            <a:ext cx="4389120" cy="237744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 25% fewer echoes per patient-decade</a:t>
            </a:r>
          </a:p>
          <a:p>
            <a:pPr algn="l">
              <a:lnSpc>
                <a:spcPct val="112000"/>
              </a:lnSpc>
              <a:spcAft>
                <a:spcPts val="300"/>
              </a:spcAft>
            </a:pPr>
            <a:r>
              <a:rPr sz="1400" b="0" i="0">
                <a:solidFill>
                  <a:srgbClr val="3A3A3A"/>
                </a:solidFill>
                <a:latin typeface="Calibri"/>
              </a:rPr>
              <a:t/>
            </a:r>
          </a:p>
          <a:p>
            <a:pPr algn="l">
              <a:lnSpc>
                <a:spcPct val="112000"/>
              </a:lnSpc>
              <a:spcAft>
                <a:spcPts val="300"/>
              </a:spcAft>
            </a:pPr>
            <a:r>
              <a:rPr sz="1400" b="0" i="0">
                <a:solidFill>
                  <a:srgbClr val="3A3A3A"/>
                </a:solidFill>
                <a:latin typeface="Calibri"/>
              </a:rPr>
              <a:t>≤ 3 months added detection delay, on average and for the slowest-detected tenth</a:t>
            </a:r>
          </a:p>
          <a:p>
            <a:pPr algn="l">
              <a:lnSpc>
                <a:spcPct val="112000"/>
              </a:lnSpc>
              <a:spcAft>
                <a:spcPts val="300"/>
              </a:spcAft>
            </a:pPr>
            <a:r>
              <a:rPr sz="1400" b="0" i="0">
                <a:solidFill>
                  <a:srgbClr val="3A3A3A"/>
                </a:solidFill>
                <a:latin typeface="Calibri"/>
              </a:rPr>
              <a:t/>
            </a:r>
          </a:p>
          <a:p>
            <a:pPr algn="l">
              <a:lnSpc>
                <a:spcPct val="112000"/>
              </a:lnSpc>
              <a:spcAft>
                <a:spcPts val="300"/>
              </a:spcAft>
            </a:pPr>
            <a:r>
              <a:rPr sz="1400" b="0" i="0">
                <a:solidFill>
                  <a:srgbClr val="3A3A3A"/>
                </a:solidFill>
                <a:latin typeface="Calibri"/>
              </a:rPr>
              <a:t>Earlier confirmation for the high-risk valves where timing matters most</a:t>
            </a:r>
          </a:p>
          <a:p>
            <a:pPr algn="l">
              <a:lnSpc>
                <a:spcPct val="112000"/>
              </a:lnSpc>
              <a:spcAft>
                <a:spcPts val="300"/>
              </a:spcAft>
            </a:pPr>
            <a:r>
              <a:rPr sz="1400" b="0" i="0">
                <a:solidFill>
                  <a:srgbClr val="3A3A3A"/>
                </a:solidFill>
                <a:latin typeface="Calibri"/>
              </a:rPr>
              <a:t/>
            </a:r>
          </a:p>
          <a:p>
            <a:pPr algn="l">
              <a:lnSpc>
                <a:spcPct val="112000"/>
              </a:lnSpc>
              <a:spcAft>
                <a:spcPts val="300"/>
              </a:spcAft>
            </a:pPr>
            <a:r>
              <a:rPr sz="1400" b="0" i="0">
                <a:solidFill>
                  <a:srgbClr val="3A3A3A"/>
                </a:solidFill>
                <a:latin typeface="Calibri"/>
              </a:rPr>
              <a:t>Any single abnormal echo still triggers a confirmation echo; symptoms always override the schedule.</a:t>
            </a:r>
          </a:p>
        </p:txBody>
      </p:sp>
      <p:sp>
        <p:nvSpPr>
          <p:cNvPr id="8" name="TextBox 7"/>
          <p:cNvSpPr txBox="1"/>
          <p:nvPr/>
        </p:nvSpPr>
        <p:spPr>
          <a:xfrm>
            <a:off x="548640" y="5669280"/>
            <a:ext cx="6217920" cy="548640"/>
          </a:xfrm>
          <a:prstGeom prst="rect">
            <a:avLst/>
          </a:prstGeom>
          <a:noFill/>
        </p:spPr>
        <p:txBody>
          <a:bodyPr wrap="square" lIns="45720" rIns="45720" tIns="27432" bIns="27432" anchor="t">
            <a:spAutoFit/>
          </a:bodyPr>
          <a:lstStyle/>
          <a:p>
            <a:pPr algn="l">
              <a:lnSpc>
                <a:spcPct val="112000"/>
              </a:lnSpc>
              <a:spcAft>
                <a:spcPts val="300"/>
              </a:spcAft>
            </a:pPr>
            <a:r>
              <a:rPr sz="1050" b="0" i="1">
                <a:solidFill>
                  <a:srgbClr val="6B7590"/>
                </a:solidFill>
                <a:latin typeface="Calibri"/>
              </a:rPr>
              <a:t>Schematic: two valves under a risk-adapted schedule. Dots are echoes; arrows show the chosen interval.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Study design</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Who is in, what counts as deterioration, and what the truth is</a:t>
            </a:r>
          </a:p>
        </p:txBody>
      </p:sp>
      <p:sp>
        <p:nvSpPr>
          <p:cNvPr id="4" name="TextBox 3"/>
          <p:cNvSpPr txBox="1"/>
          <p:nvPr/>
        </p:nvSpPr>
        <p:spPr>
          <a:xfrm>
            <a:off x="548640" y="1645920"/>
            <a:ext cx="3474720" cy="411480"/>
          </a:xfrm>
          <a:prstGeom prst="rect">
            <a:avLst/>
          </a:prstGeom>
          <a:noFill/>
        </p:spPr>
        <p:txBody>
          <a:bodyPr wrap="square" lIns="45720" rIns="45720" tIns="27432" bIns="27432" anchor="t">
            <a:spAutoFit/>
          </a:bodyPr>
          <a:lstStyle/>
          <a:p>
            <a:pPr algn="l">
              <a:lnSpc>
                <a:spcPct val="112000"/>
              </a:lnSpc>
              <a:spcAft>
                <a:spcPts val="300"/>
              </a:spcAft>
            </a:pPr>
            <a:r>
              <a:rPr sz="1450" b="1" i="0">
                <a:solidFill>
                  <a:srgbClr val="1E2761"/>
                </a:solidFill>
                <a:latin typeface="Calibri"/>
              </a:rPr>
              <a:t>Population</a:t>
            </a:r>
          </a:p>
        </p:txBody>
      </p:sp>
      <p:sp>
        <p:nvSpPr>
          <p:cNvPr id="5" name="TextBox 4"/>
          <p:cNvSpPr txBox="1"/>
          <p:nvPr/>
        </p:nvSpPr>
        <p:spPr>
          <a:xfrm>
            <a:off x="548640" y="2103120"/>
            <a:ext cx="3474720" cy="4114800"/>
          </a:xfrm>
          <a:prstGeom prst="rect">
            <a:avLst/>
          </a:prstGeom>
          <a:noFill/>
        </p:spPr>
        <p:txBody>
          <a:bodyPr wrap="square" lIns="45720" rIns="45720" tIns="27432" bIns="27432" anchor="t">
            <a:spAutoFit/>
          </a:bodyPr>
          <a:lstStyle/>
          <a:p>
            <a:pPr algn="l">
              <a:lnSpc>
                <a:spcPct val="112000"/>
              </a:lnSpc>
              <a:spcAft>
                <a:spcPts val="300"/>
              </a:spcAft>
            </a:pPr>
            <a:r>
              <a:rPr sz="1350" b="0" i="0">
                <a:solidFill>
                  <a:srgbClr val="3A3A3A"/>
                </a:solidFill>
                <a:latin typeface="Calibri"/>
              </a:rPr>
              <a:t>Adults with a first bioprosthetic SAVR or TAVR; valve model and size recorded; reference echo within 3 months (or a model × size norm, flagged); at least one follow-up echo.</a:t>
            </a:r>
          </a:p>
          <a:p>
            <a:pPr algn="l">
              <a:lnSpc>
                <a:spcPct val="112000"/>
              </a:lnSpc>
              <a:spcAft>
                <a:spcPts val="300"/>
              </a:spcAft>
            </a:pPr>
            <a:r>
              <a:rPr sz="1350" b="0" i="0">
                <a:solidFill>
                  <a:srgbClr val="3A3A3A"/>
                </a:solidFill>
                <a:latin typeface="Calibri"/>
              </a:rPr>
              <a:t/>
            </a:r>
          </a:p>
          <a:p>
            <a:pPr algn="l">
              <a:lnSpc>
                <a:spcPct val="112000"/>
              </a:lnSpc>
              <a:spcAft>
                <a:spcPts val="300"/>
              </a:spcAft>
            </a:pPr>
            <a:r>
              <a:rPr sz="1350" b="0" i="0">
                <a:solidFill>
                  <a:srgbClr val="3A3A3A"/>
                </a:solidFill>
                <a:latin typeface="Calibri"/>
              </a:rPr>
              <a:t>Excluded: mechanical, homograft and Ross valves; index valve-in-valve; multiple prostheses.</a:t>
            </a:r>
          </a:p>
          <a:p>
            <a:pPr algn="l">
              <a:lnSpc>
                <a:spcPct val="112000"/>
              </a:lnSpc>
              <a:spcAft>
                <a:spcPts val="300"/>
              </a:spcAft>
            </a:pPr>
            <a:r>
              <a:rPr sz="1350" b="0" i="0">
                <a:solidFill>
                  <a:srgbClr val="3A3A3A"/>
                </a:solidFill>
                <a:latin typeface="Calibri"/>
              </a:rPr>
              <a:t/>
            </a:r>
          </a:p>
          <a:p>
            <a:pPr algn="l">
              <a:lnSpc>
                <a:spcPct val="112000"/>
              </a:lnSpc>
              <a:spcAft>
                <a:spcPts val="300"/>
              </a:spcAft>
            </a:pPr>
            <a:r>
              <a:rPr sz="1350" b="0" i="0">
                <a:solidFill>
                  <a:srgbClr val="3A3A3A"/>
                </a:solidFill>
                <a:latin typeface="Calibri"/>
              </a:rPr>
              <a:t>≥ 5,000 valves from ≥ 3 centres; ≥ 2,000 external.</a:t>
            </a:r>
          </a:p>
        </p:txBody>
      </p:sp>
      <p:sp>
        <p:nvSpPr>
          <p:cNvPr id="6" name="TextBox 5"/>
          <p:cNvSpPr txBox="1"/>
          <p:nvPr/>
        </p:nvSpPr>
        <p:spPr>
          <a:xfrm>
            <a:off x="4343400" y="1645920"/>
            <a:ext cx="3474720" cy="411480"/>
          </a:xfrm>
          <a:prstGeom prst="rect">
            <a:avLst/>
          </a:prstGeom>
          <a:noFill/>
        </p:spPr>
        <p:txBody>
          <a:bodyPr wrap="square" lIns="45720" rIns="45720" tIns="27432" bIns="27432" anchor="t">
            <a:spAutoFit/>
          </a:bodyPr>
          <a:lstStyle/>
          <a:p>
            <a:pPr algn="l">
              <a:lnSpc>
                <a:spcPct val="112000"/>
              </a:lnSpc>
              <a:spcAft>
                <a:spcPts val="300"/>
              </a:spcAft>
            </a:pPr>
            <a:r>
              <a:rPr sz="1450" b="1" i="0">
                <a:solidFill>
                  <a:srgbClr val="1E2761"/>
                </a:solidFill>
                <a:latin typeface="Calibri"/>
              </a:rPr>
              <a:t>Endpoints</a:t>
            </a:r>
          </a:p>
        </p:txBody>
      </p:sp>
      <p:sp>
        <p:nvSpPr>
          <p:cNvPr id="7" name="TextBox 6"/>
          <p:cNvSpPr txBox="1"/>
          <p:nvPr/>
        </p:nvSpPr>
        <p:spPr>
          <a:xfrm>
            <a:off x="4343400" y="2103120"/>
            <a:ext cx="3474720" cy="4114800"/>
          </a:xfrm>
          <a:prstGeom prst="rect">
            <a:avLst/>
          </a:prstGeom>
          <a:noFill/>
        </p:spPr>
        <p:txBody>
          <a:bodyPr wrap="square" lIns="45720" rIns="45720" tIns="27432" bIns="27432" anchor="t">
            <a:spAutoFit/>
          </a:bodyPr>
          <a:lstStyle/>
          <a:p>
            <a:pPr algn="l">
              <a:lnSpc>
                <a:spcPct val="112000"/>
              </a:lnSpc>
              <a:spcAft>
                <a:spcPts val="300"/>
              </a:spcAft>
            </a:pPr>
            <a:r>
              <a:rPr sz="1350" b="0" i="0">
                <a:solidFill>
                  <a:srgbClr val="3A3A3A"/>
                </a:solidFill>
                <a:latin typeface="Calibri"/>
              </a:rPr>
              <a:t>Primary: VARC-3 moderate SVD (stage ≥ 2) confirmed on two consecutive echoes; death, endocarditis and non-SVD reintervention compete; incidence at 5, 8 and 10 years.</a:t>
            </a:r>
          </a:p>
          <a:p>
            <a:pPr algn="l">
              <a:lnSpc>
                <a:spcPct val="112000"/>
              </a:lnSpc>
              <a:spcAft>
                <a:spcPts val="300"/>
              </a:spcAft>
            </a:pPr>
            <a:r>
              <a:rPr sz="1350" b="0" i="0">
                <a:solidFill>
                  <a:srgbClr val="3A3A3A"/>
                </a:solidFill>
                <a:latin typeface="Calibri"/>
              </a:rPr>
              <a:t/>
            </a:r>
          </a:p>
          <a:p>
            <a:pPr algn="l">
              <a:lnSpc>
                <a:spcPct val="112000"/>
              </a:lnSpc>
              <a:spcAft>
                <a:spcPts val="300"/>
              </a:spcAft>
            </a:pPr>
            <a:r>
              <a:rPr sz="1350" b="0" i="0">
                <a:solidFill>
                  <a:srgbClr val="3A3A3A"/>
                </a:solidFill>
                <a:latin typeface="Calibri"/>
              </a:rPr>
              <a:t>Secondary: valve failure; reintervention, elective vs urgent; gradient progression; echoes used and detection delay under each schedule.</a:t>
            </a:r>
          </a:p>
        </p:txBody>
      </p:sp>
      <p:sp>
        <p:nvSpPr>
          <p:cNvPr id="8" name="TextBox 7"/>
          <p:cNvSpPr txBox="1"/>
          <p:nvPr/>
        </p:nvSpPr>
        <p:spPr>
          <a:xfrm>
            <a:off x="8138160" y="1645920"/>
            <a:ext cx="3474720" cy="411480"/>
          </a:xfrm>
          <a:prstGeom prst="rect">
            <a:avLst/>
          </a:prstGeom>
          <a:noFill/>
        </p:spPr>
        <p:txBody>
          <a:bodyPr wrap="square" lIns="45720" rIns="45720" tIns="27432" bIns="27432" anchor="t">
            <a:spAutoFit/>
          </a:bodyPr>
          <a:lstStyle/>
          <a:p>
            <a:pPr algn="l">
              <a:lnSpc>
                <a:spcPct val="112000"/>
              </a:lnSpc>
              <a:spcAft>
                <a:spcPts val="300"/>
              </a:spcAft>
            </a:pPr>
            <a:r>
              <a:rPr sz="1450" b="1" i="0">
                <a:solidFill>
                  <a:srgbClr val="1E2761"/>
                </a:solidFill>
                <a:latin typeface="Calibri"/>
              </a:rPr>
              <a:t>Ground truth, highest level wins</a:t>
            </a:r>
          </a:p>
        </p:txBody>
      </p:sp>
      <p:sp>
        <p:nvSpPr>
          <p:cNvPr id="9" name="TextBox 8"/>
          <p:cNvSpPr txBox="1"/>
          <p:nvPr/>
        </p:nvSpPr>
        <p:spPr>
          <a:xfrm>
            <a:off x="8138160" y="2103120"/>
            <a:ext cx="3474720" cy="4114800"/>
          </a:xfrm>
          <a:prstGeom prst="rect">
            <a:avLst/>
          </a:prstGeom>
          <a:noFill/>
        </p:spPr>
        <p:txBody>
          <a:bodyPr wrap="square" lIns="45720" rIns="45720" tIns="27432" bIns="27432" anchor="t">
            <a:spAutoFit/>
          </a:bodyPr>
          <a:lstStyle/>
          <a:p>
            <a:pPr algn="l">
              <a:lnSpc>
                <a:spcPct val="112000"/>
              </a:lnSpc>
              <a:spcAft>
                <a:spcPts val="300"/>
              </a:spcAft>
            </a:pPr>
            <a:r>
              <a:rPr sz="1350" b="0" i="0">
                <a:solidFill>
                  <a:srgbClr val="3A3A3A"/>
                </a:solidFill>
                <a:latin typeface="Calibri"/>
              </a:rPr>
              <a:t>1.  Explant or autopsy pathology</a:t>
            </a:r>
          </a:p>
          <a:p>
            <a:pPr algn="l">
              <a:lnSpc>
                <a:spcPct val="112000"/>
              </a:lnSpc>
              <a:spcAft>
                <a:spcPts val="300"/>
              </a:spcAft>
            </a:pPr>
            <a:r>
              <a:rPr sz="1350" b="0" i="0">
                <a:solidFill>
                  <a:srgbClr val="3A3A3A"/>
                </a:solidFill>
                <a:latin typeface="Calibri"/>
              </a:rPr>
              <a:t>2.  Reintervention for SVD</a:t>
            </a:r>
          </a:p>
          <a:p>
            <a:pPr algn="l">
              <a:lnSpc>
                <a:spcPct val="112000"/>
              </a:lnSpc>
              <a:spcAft>
                <a:spcPts val="300"/>
              </a:spcAft>
            </a:pPr>
            <a:r>
              <a:rPr sz="1350" b="0" i="0">
                <a:solidFill>
                  <a:srgbClr val="3A3A3A"/>
                </a:solidFill>
                <a:latin typeface="Calibri"/>
              </a:rPr>
              <a:t>3.  VARC-3 criteria on two consecutive echoes</a:t>
            </a:r>
          </a:p>
          <a:p>
            <a:pPr algn="l">
              <a:lnSpc>
                <a:spcPct val="112000"/>
              </a:lnSpc>
              <a:spcAft>
                <a:spcPts val="300"/>
              </a:spcAft>
            </a:pPr>
            <a:r>
              <a:rPr sz="1350" b="0" i="0">
                <a:solidFill>
                  <a:srgbClr val="3A3A3A"/>
                </a:solidFill>
                <a:latin typeface="Calibri"/>
              </a:rPr>
              <a:t>4.  Blinded heart-team adjudication</a:t>
            </a:r>
          </a:p>
          <a:p>
            <a:pPr algn="l">
              <a:lnSpc>
                <a:spcPct val="112000"/>
              </a:lnSpc>
              <a:spcAft>
                <a:spcPts val="300"/>
              </a:spcAft>
            </a:pPr>
            <a:r>
              <a:rPr sz="1350" b="0" i="0">
                <a:solidFill>
                  <a:srgbClr val="3A3A3A"/>
                </a:solidFill>
                <a:latin typeface="Calibri"/>
              </a:rPr>
              <a:t/>
            </a:r>
          </a:p>
          <a:p>
            <a:pPr algn="l">
              <a:lnSpc>
                <a:spcPct val="112000"/>
              </a:lnSpc>
              <a:spcAft>
                <a:spcPts val="300"/>
              </a:spcAft>
            </a:pPr>
            <a:r>
              <a:rPr sz="1350" b="0" i="0">
                <a:solidFill>
                  <a:srgbClr val="3A3A3A"/>
                </a:solidFill>
                <a:latin typeface="Calibri"/>
              </a:rPr>
              <a:t>Endocarditis, thrombosis, paravalvular leak and mismatch are adjudicated out.</a:t>
            </a:r>
          </a:p>
        </p:txBody>
      </p:sp>
      <p:cxnSp>
        <p:nvCxnSpPr>
          <p:cNvPr id="10" name="Connector 9"/>
          <p:cNvCxnSpPr/>
          <p:nvPr/>
        </p:nvCxnSpPr>
        <p:spPr>
          <a:xfrm>
            <a:off x="4114800" y="1737360"/>
            <a:ext cx="0" cy="4297680"/>
          </a:xfrm>
          <a:prstGeom prst="line">
            <a:avLst/>
          </a:prstGeom>
          <a:ln w="12700">
            <a:solidFill>
              <a:srgbClr val="D7DEE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909560" y="1737360"/>
            <a:ext cx="0" cy="4297680"/>
          </a:xfrm>
          <a:prstGeom prst="line">
            <a:avLst/>
          </a:prstGeom>
          <a:ln w="12700">
            <a:solidFill>
              <a:srgbClr val="D7DEE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Généreux 2021 Eur Heart J (VARC-3)  ·  Capodanno 2017 Eur Heart J  ·  Dvir 2018 Circulation  ·  Praz 2025 (Table 12 adopts the same criteria)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Data</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Registry-shaped for deployment; a calibrated simulation for the prototype</a:t>
            </a:r>
          </a:p>
        </p:txBody>
      </p:sp>
      <p:sp>
        <p:nvSpPr>
          <p:cNvPr id="4" name="TextBox 3"/>
          <p:cNvSpPr txBox="1"/>
          <p:nvPr/>
        </p:nvSpPr>
        <p:spPr>
          <a:xfrm>
            <a:off x="548640" y="1645920"/>
            <a:ext cx="5120640" cy="41148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Deployment: routinely collected, linked by one key</a:t>
            </a:r>
          </a:p>
        </p:txBody>
      </p:sp>
      <p:sp>
        <p:nvSpPr>
          <p:cNvPr id="5" name="TextBox 4"/>
          <p:cNvSpPr txBox="1"/>
          <p:nvPr/>
        </p:nvSpPr>
        <p:spPr>
          <a:xfrm>
            <a:off x="548640" y="2103120"/>
            <a:ext cx="2377440" cy="594360"/>
          </a:xfrm>
          <a:prstGeom prst="rect">
            <a:avLst/>
          </a:prstGeom>
          <a:noFill/>
        </p:spPr>
        <p:txBody>
          <a:bodyPr wrap="square" lIns="45720" rIns="45720" tIns="27432" bIns="27432" anchor="t">
            <a:spAutoFit/>
          </a:bodyPr>
          <a:lstStyle/>
          <a:p>
            <a:pPr algn="l">
              <a:lnSpc>
                <a:spcPct val="112000"/>
              </a:lnSpc>
              <a:spcAft>
                <a:spcPts val="300"/>
              </a:spcAft>
            </a:pPr>
            <a:r>
              <a:rPr sz="1250" b="1" i="0">
                <a:solidFill>
                  <a:srgbClr val="3A3A3A"/>
                </a:solidFill>
                <a:latin typeface="Calibri"/>
              </a:rPr>
              <a:t>Echo reporting database</a:t>
            </a:r>
          </a:p>
        </p:txBody>
      </p:sp>
      <p:sp>
        <p:nvSpPr>
          <p:cNvPr id="6" name="TextBox 5"/>
          <p:cNvSpPr txBox="1"/>
          <p:nvPr/>
        </p:nvSpPr>
        <p:spPr>
          <a:xfrm>
            <a:off x="2971800" y="2103120"/>
            <a:ext cx="2743200" cy="594360"/>
          </a:xfrm>
          <a:prstGeom prst="rect">
            <a:avLst/>
          </a:prstGeom>
          <a:noFill/>
        </p:spPr>
        <p:txBody>
          <a:bodyPr wrap="square" lIns="45720" rIns="45720" tIns="27432" bIns="27432" anchor="t">
            <a:spAutoFit/>
          </a:bodyPr>
          <a:lstStyle/>
          <a:p>
            <a:pPr algn="l">
              <a:lnSpc>
                <a:spcPct val="112000"/>
              </a:lnSpc>
              <a:spcAft>
                <a:spcPts val="300"/>
              </a:spcAft>
            </a:pPr>
            <a:r>
              <a:rPr sz="1250" b="0" i="0">
                <a:solidFill>
                  <a:srgbClr val="3A3A3A"/>
                </a:solidFill>
                <a:latin typeface="Calibri"/>
              </a:rPr>
              <a:t>serial gradients, EOA, DVI, LVEF</a:t>
            </a:r>
          </a:p>
        </p:txBody>
      </p:sp>
      <p:cxnSp>
        <p:nvCxnSpPr>
          <p:cNvPr id="7" name="Connector 6"/>
          <p:cNvCxnSpPr/>
          <p:nvPr/>
        </p:nvCxnSpPr>
        <p:spPr>
          <a:xfrm>
            <a:off x="548640" y="2724912"/>
            <a:ext cx="5120640" cy="0"/>
          </a:xfrm>
          <a:prstGeom prst="line">
            <a:avLst/>
          </a:prstGeom>
          <a:ln w="12700">
            <a:solidFill>
              <a:srgbClr val="D7DE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2816352"/>
            <a:ext cx="2377440" cy="594360"/>
          </a:xfrm>
          <a:prstGeom prst="rect">
            <a:avLst/>
          </a:prstGeom>
          <a:noFill/>
        </p:spPr>
        <p:txBody>
          <a:bodyPr wrap="square" lIns="45720" rIns="45720" tIns="27432" bIns="27432" anchor="t">
            <a:spAutoFit/>
          </a:bodyPr>
          <a:lstStyle/>
          <a:p>
            <a:pPr algn="l">
              <a:lnSpc>
                <a:spcPct val="112000"/>
              </a:lnSpc>
              <a:spcAft>
                <a:spcPts val="300"/>
              </a:spcAft>
            </a:pPr>
            <a:r>
              <a:rPr sz="1250" b="1" i="0">
                <a:solidFill>
                  <a:srgbClr val="3A3A3A"/>
                </a:solidFill>
                <a:latin typeface="Calibri"/>
              </a:rPr>
              <a:t>STS ACSD, STS/ACC TVT Registry</a:t>
            </a:r>
          </a:p>
        </p:txBody>
      </p:sp>
      <p:sp>
        <p:nvSpPr>
          <p:cNvPr id="9" name="TextBox 8"/>
          <p:cNvSpPr txBox="1"/>
          <p:nvPr/>
        </p:nvSpPr>
        <p:spPr>
          <a:xfrm>
            <a:off x="2971800" y="2816352"/>
            <a:ext cx="2743200" cy="594360"/>
          </a:xfrm>
          <a:prstGeom prst="rect">
            <a:avLst/>
          </a:prstGeom>
          <a:noFill/>
        </p:spPr>
        <p:txBody>
          <a:bodyPr wrap="square" lIns="45720" rIns="45720" tIns="27432" bIns="27432" anchor="t">
            <a:spAutoFit/>
          </a:bodyPr>
          <a:lstStyle/>
          <a:p>
            <a:pPr algn="l">
              <a:lnSpc>
                <a:spcPct val="112000"/>
              </a:lnSpc>
              <a:spcAft>
                <a:spcPts val="300"/>
              </a:spcAft>
            </a:pPr>
            <a:r>
              <a:rPr sz="1250" b="0" i="0">
                <a:solidFill>
                  <a:srgbClr val="3A3A3A"/>
                </a:solidFill>
                <a:latin typeface="Calibri"/>
              </a:rPr>
              <a:t>valve model, size, comorbidities</a:t>
            </a:r>
          </a:p>
        </p:txBody>
      </p:sp>
      <p:cxnSp>
        <p:nvCxnSpPr>
          <p:cNvPr id="10" name="Connector 9"/>
          <p:cNvCxnSpPr/>
          <p:nvPr/>
        </p:nvCxnSpPr>
        <p:spPr>
          <a:xfrm>
            <a:off x="548640" y="3438144"/>
            <a:ext cx="5120640" cy="0"/>
          </a:xfrm>
          <a:prstGeom prst="line">
            <a:avLst/>
          </a:prstGeom>
          <a:ln w="12700">
            <a:solidFill>
              <a:srgbClr val="D7DEE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529584"/>
            <a:ext cx="2377440" cy="594360"/>
          </a:xfrm>
          <a:prstGeom prst="rect">
            <a:avLst/>
          </a:prstGeom>
          <a:noFill/>
        </p:spPr>
        <p:txBody>
          <a:bodyPr wrap="square" lIns="45720" rIns="45720" tIns="27432" bIns="27432" anchor="t">
            <a:spAutoFit/>
          </a:bodyPr>
          <a:lstStyle/>
          <a:p>
            <a:pPr algn="l">
              <a:lnSpc>
                <a:spcPct val="112000"/>
              </a:lnSpc>
              <a:spcAft>
                <a:spcPts val="300"/>
              </a:spcAft>
            </a:pPr>
            <a:r>
              <a:rPr sz="1250" b="1" i="0">
                <a:solidFill>
                  <a:srgbClr val="3A3A3A"/>
                </a:solidFill>
                <a:latin typeface="Calibri"/>
              </a:rPr>
              <a:t>EHR notes, local NLP</a:t>
            </a:r>
          </a:p>
        </p:txBody>
      </p:sp>
      <p:sp>
        <p:nvSpPr>
          <p:cNvPr id="12" name="TextBox 11"/>
          <p:cNvSpPr txBox="1"/>
          <p:nvPr/>
        </p:nvSpPr>
        <p:spPr>
          <a:xfrm>
            <a:off x="2971800" y="3529584"/>
            <a:ext cx="2743200" cy="594360"/>
          </a:xfrm>
          <a:prstGeom prst="rect">
            <a:avLst/>
          </a:prstGeom>
          <a:noFill/>
        </p:spPr>
        <p:txBody>
          <a:bodyPr wrap="square" lIns="45720" rIns="45720" tIns="27432" bIns="27432" anchor="t">
            <a:spAutoFit/>
          </a:bodyPr>
          <a:lstStyle/>
          <a:p>
            <a:pPr algn="l">
              <a:lnSpc>
                <a:spcPct val="112000"/>
              </a:lnSpc>
              <a:spcAft>
                <a:spcPts val="300"/>
              </a:spcAft>
            </a:pPr>
            <a:r>
              <a:rPr sz="1250" b="0" i="0">
                <a:solidFill>
                  <a:srgbClr val="3A3A3A"/>
                </a:solidFill>
                <a:latin typeface="Calibri"/>
              </a:rPr>
              <a:t>atrial fibrillation, anticoagulation, symptoms</a:t>
            </a:r>
          </a:p>
        </p:txBody>
      </p:sp>
      <p:cxnSp>
        <p:nvCxnSpPr>
          <p:cNvPr id="13" name="Connector 12"/>
          <p:cNvCxnSpPr/>
          <p:nvPr/>
        </p:nvCxnSpPr>
        <p:spPr>
          <a:xfrm>
            <a:off x="548640" y="4151376"/>
            <a:ext cx="5120640" cy="0"/>
          </a:xfrm>
          <a:prstGeom prst="line">
            <a:avLst/>
          </a:prstGeom>
          <a:ln w="12700">
            <a:solidFill>
              <a:srgbClr val="D7DE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242816"/>
            <a:ext cx="2377440" cy="594360"/>
          </a:xfrm>
          <a:prstGeom prst="rect">
            <a:avLst/>
          </a:prstGeom>
          <a:noFill/>
        </p:spPr>
        <p:txBody>
          <a:bodyPr wrap="square" lIns="45720" rIns="45720" tIns="27432" bIns="27432" anchor="t">
            <a:spAutoFit/>
          </a:bodyPr>
          <a:lstStyle/>
          <a:p>
            <a:pPr algn="l">
              <a:lnSpc>
                <a:spcPct val="112000"/>
              </a:lnSpc>
              <a:spcAft>
                <a:spcPts val="300"/>
              </a:spcAft>
            </a:pPr>
            <a:r>
              <a:rPr sz="1250" b="1" i="0">
                <a:solidFill>
                  <a:srgbClr val="3A3A3A"/>
                </a:solidFill>
                <a:latin typeface="Calibri"/>
              </a:rPr>
              <a:t>CMS claims, National Death Index</a:t>
            </a:r>
          </a:p>
        </p:txBody>
      </p:sp>
      <p:sp>
        <p:nvSpPr>
          <p:cNvPr id="15" name="TextBox 14"/>
          <p:cNvSpPr txBox="1"/>
          <p:nvPr/>
        </p:nvSpPr>
        <p:spPr>
          <a:xfrm>
            <a:off x="2971800" y="4242816"/>
            <a:ext cx="2743200" cy="594360"/>
          </a:xfrm>
          <a:prstGeom prst="rect">
            <a:avLst/>
          </a:prstGeom>
          <a:noFill/>
        </p:spPr>
        <p:txBody>
          <a:bodyPr wrap="square" lIns="45720" rIns="45720" tIns="27432" bIns="27432" anchor="t">
            <a:spAutoFit/>
          </a:bodyPr>
          <a:lstStyle/>
          <a:p>
            <a:pPr algn="l">
              <a:lnSpc>
                <a:spcPct val="112000"/>
              </a:lnSpc>
              <a:spcAft>
                <a:spcPts val="300"/>
              </a:spcAft>
            </a:pPr>
            <a:r>
              <a:rPr sz="1250" b="0" i="0">
                <a:solidFill>
                  <a:srgbClr val="3A3A3A"/>
                </a:solidFill>
                <a:latin typeface="Calibri"/>
              </a:rPr>
              <a:t>reintervention and death elsewhere</a:t>
            </a:r>
          </a:p>
        </p:txBody>
      </p:sp>
      <p:cxnSp>
        <p:nvCxnSpPr>
          <p:cNvPr id="16" name="Connector 15"/>
          <p:cNvCxnSpPr/>
          <p:nvPr/>
        </p:nvCxnSpPr>
        <p:spPr>
          <a:xfrm>
            <a:off x="548640" y="4864608"/>
            <a:ext cx="5120640" cy="0"/>
          </a:xfrm>
          <a:prstGeom prst="line">
            <a:avLst/>
          </a:prstGeom>
          <a:ln w="12700">
            <a:solidFill>
              <a:srgbClr val="D7DEE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029200"/>
            <a:ext cx="5120640" cy="1005840"/>
          </a:xfrm>
          <a:prstGeom prst="rect">
            <a:avLst/>
          </a:prstGeom>
          <a:noFill/>
        </p:spPr>
        <p:txBody>
          <a:bodyPr wrap="square" lIns="45720" rIns="45720" tIns="27432" bIns="27432" anchor="t">
            <a:spAutoFit/>
          </a:bodyPr>
          <a:lstStyle/>
          <a:p>
            <a:pPr algn="l">
              <a:lnSpc>
                <a:spcPct val="112000"/>
              </a:lnSpc>
              <a:spcAft>
                <a:spcPts val="300"/>
              </a:spcAft>
            </a:pPr>
            <a:r>
              <a:rPr sz="1200" b="0" i="0">
                <a:solidFill>
                  <a:srgbClr val="6B7590"/>
                </a:solidFill>
                <a:latin typeface="Calibri"/>
              </a:rPr>
              <a:t>Needs exact dates and ages (a HIPAA limited data set). In the provided notes, a prosthetic echo with a gradient was found for only 36% of patients.</a:t>
            </a:r>
          </a:p>
        </p:txBody>
      </p:sp>
      <p:sp>
        <p:nvSpPr>
          <p:cNvPr id="18" name="TextBox 17"/>
          <p:cNvSpPr txBox="1"/>
          <p:nvPr/>
        </p:nvSpPr>
        <p:spPr>
          <a:xfrm>
            <a:off x="6126480" y="1645920"/>
            <a:ext cx="5577840" cy="41148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Prototype: no public serial-echo dataset, so we built one</a:t>
            </a:r>
          </a:p>
        </p:txBody>
      </p:sp>
      <p:sp>
        <p:nvSpPr>
          <p:cNvPr id="19" name="Rounded Rectangle 18"/>
          <p:cNvSpPr/>
          <p:nvPr/>
        </p:nvSpPr>
        <p:spPr>
          <a:xfrm>
            <a:off x="6126480" y="2103120"/>
            <a:ext cx="1280160" cy="960120"/>
          </a:xfrm>
          <a:prstGeom prst="roundRect">
            <a:avLst>
              <a:gd name="adj" fmla="val 5714"/>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2130552"/>
            <a:ext cx="1188720" cy="914400"/>
          </a:xfrm>
          <a:prstGeom prst="rect">
            <a:avLst/>
          </a:prstGeom>
          <a:noFill/>
        </p:spPr>
        <p:txBody>
          <a:bodyPr wrap="square" lIns="45720" rIns="45720" tIns="27432" bIns="27432" anchor="ctr">
            <a:spAutoFit/>
          </a:bodyPr>
          <a:lstStyle/>
          <a:p>
            <a:pPr algn="ctr">
              <a:lnSpc>
                <a:spcPct val="112000"/>
              </a:lnSpc>
              <a:spcAft>
                <a:spcPts val="300"/>
              </a:spcAft>
            </a:pPr>
            <a:r>
              <a:rPr sz="950" b="0" i="0">
                <a:solidFill>
                  <a:srgbClr val="3A3A3A"/>
                </a:solidFill>
                <a:latin typeface="Calibri"/>
              </a:rPr>
              <a:t>Published curves</a:t>
            </a:r>
          </a:p>
          <a:p>
            <a:pPr algn="ctr">
              <a:lnSpc>
                <a:spcPct val="112000"/>
              </a:lnSpc>
              <a:spcAft>
                <a:spcPts val="300"/>
              </a:spcAft>
            </a:pPr>
            <a:r>
              <a:rPr sz="950" b="0" i="0">
                <a:solidFill>
                  <a:srgbClr val="3A3A3A"/>
                </a:solidFill>
                <a:latin typeface="Calibri"/>
              </a:rPr>
              <a:t>Kermen, NOTION, Wakami</a:t>
            </a:r>
          </a:p>
        </p:txBody>
      </p:sp>
      <p:sp>
        <p:nvSpPr>
          <p:cNvPr id="21" name="TextBox 20"/>
          <p:cNvSpPr txBox="1"/>
          <p:nvPr/>
        </p:nvSpPr>
        <p:spPr>
          <a:xfrm>
            <a:off x="7406640" y="2331720"/>
            <a:ext cx="137160" cy="502920"/>
          </a:xfrm>
          <a:prstGeom prst="rect">
            <a:avLst/>
          </a:prstGeom>
          <a:noFill/>
        </p:spPr>
        <p:txBody>
          <a:bodyPr wrap="square" lIns="45720" rIns="45720" tIns="27432" bIns="27432" anchor="ctr">
            <a:spAutoFit/>
          </a:bodyPr>
          <a:lstStyle/>
          <a:p>
            <a:pPr algn="ctr">
              <a:lnSpc>
                <a:spcPct val="112000"/>
              </a:lnSpc>
              <a:spcAft>
                <a:spcPts val="300"/>
              </a:spcAft>
            </a:pPr>
            <a:r>
              <a:rPr sz="1300" b="1" i="0">
                <a:solidFill>
                  <a:srgbClr val="028090"/>
                </a:solidFill>
                <a:latin typeface="Calibri"/>
              </a:rPr>
              <a:t>→</a:t>
            </a:r>
          </a:p>
        </p:txBody>
      </p:sp>
      <p:sp>
        <p:nvSpPr>
          <p:cNvPr id="22" name="Rounded Rectangle 21"/>
          <p:cNvSpPr/>
          <p:nvPr/>
        </p:nvSpPr>
        <p:spPr>
          <a:xfrm>
            <a:off x="7543800" y="2103120"/>
            <a:ext cx="1280160" cy="960120"/>
          </a:xfrm>
          <a:prstGeom prst="roundRect">
            <a:avLst>
              <a:gd name="adj" fmla="val 5714"/>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2130552"/>
            <a:ext cx="1188720" cy="914400"/>
          </a:xfrm>
          <a:prstGeom prst="rect">
            <a:avLst/>
          </a:prstGeom>
          <a:noFill/>
        </p:spPr>
        <p:txBody>
          <a:bodyPr wrap="square" lIns="45720" rIns="45720" tIns="27432" bIns="27432" anchor="ctr">
            <a:spAutoFit/>
          </a:bodyPr>
          <a:lstStyle/>
          <a:p>
            <a:pPr algn="ctr">
              <a:lnSpc>
                <a:spcPct val="112000"/>
              </a:lnSpc>
              <a:spcAft>
                <a:spcPts val="300"/>
              </a:spcAft>
            </a:pPr>
            <a:r>
              <a:rPr sz="950" b="0" i="0">
                <a:solidFill>
                  <a:srgbClr val="3A3A3A"/>
                </a:solidFill>
                <a:latin typeface="Calibri"/>
              </a:rPr>
              <a:t>Patient-level data</a:t>
            </a:r>
          </a:p>
          <a:p>
            <a:pPr algn="ctr">
              <a:lnSpc>
                <a:spcPct val="112000"/>
              </a:lnSpc>
              <a:spcAft>
                <a:spcPts val="300"/>
              </a:spcAft>
            </a:pPr>
            <a:r>
              <a:rPr sz="950" b="0" i="0">
                <a:solidFill>
                  <a:srgbClr val="3A3A3A"/>
                </a:solidFill>
                <a:latin typeface="Calibri"/>
              </a:rPr>
              <a:t>reconstructed (Guyot)</a:t>
            </a:r>
          </a:p>
        </p:txBody>
      </p:sp>
      <p:sp>
        <p:nvSpPr>
          <p:cNvPr id="24" name="TextBox 23"/>
          <p:cNvSpPr txBox="1"/>
          <p:nvPr/>
        </p:nvSpPr>
        <p:spPr>
          <a:xfrm>
            <a:off x="8823960" y="2331720"/>
            <a:ext cx="137160" cy="502920"/>
          </a:xfrm>
          <a:prstGeom prst="rect">
            <a:avLst/>
          </a:prstGeom>
          <a:noFill/>
        </p:spPr>
        <p:txBody>
          <a:bodyPr wrap="square" lIns="45720" rIns="45720" tIns="27432" bIns="27432" anchor="ctr">
            <a:spAutoFit/>
          </a:bodyPr>
          <a:lstStyle/>
          <a:p>
            <a:pPr algn="ctr">
              <a:lnSpc>
                <a:spcPct val="112000"/>
              </a:lnSpc>
              <a:spcAft>
                <a:spcPts val="300"/>
              </a:spcAft>
            </a:pPr>
            <a:r>
              <a:rPr sz="1300" b="1" i="0">
                <a:solidFill>
                  <a:srgbClr val="028090"/>
                </a:solidFill>
                <a:latin typeface="Calibri"/>
              </a:rPr>
              <a:t>→</a:t>
            </a:r>
          </a:p>
        </p:txBody>
      </p:sp>
      <p:sp>
        <p:nvSpPr>
          <p:cNvPr id="25" name="Rounded Rectangle 24"/>
          <p:cNvSpPr/>
          <p:nvPr/>
        </p:nvSpPr>
        <p:spPr>
          <a:xfrm>
            <a:off x="8961120" y="2103120"/>
            <a:ext cx="1280160" cy="960120"/>
          </a:xfrm>
          <a:prstGeom prst="roundRect">
            <a:avLst>
              <a:gd name="adj" fmla="val 5714"/>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06840" y="2130552"/>
            <a:ext cx="1188720" cy="914400"/>
          </a:xfrm>
          <a:prstGeom prst="rect">
            <a:avLst/>
          </a:prstGeom>
          <a:noFill/>
        </p:spPr>
        <p:txBody>
          <a:bodyPr wrap="square" lIns="45720" rIns="45720" tIns="27432" bIns="27432" anchor="ctr">
            <a:spAutoFit/>
          </a:bodyPr>
          <a:lstStyle/>
          <a:p>
            <a:pPr algn="ctr">
              <a:lnSpc>
                <a:spcPct val="112000"/>
              </a:lnSpc>
              <a:spcAft>
                <a:spcPts val="300"/>
              </a:spcAft>
            </a:pPr>
            <a:r>
              <a:rPr sz="950" b="0" i="0">
                <a:solidFill>
                  <a:srgbClr val="3A3A3A"/>
                </a:solidFill>
                <a:latin typeface="Calibri"/>
              </a:rPr>
              <a:t>Simulator calibrated</a:t>
            </a:r>
          </a:p>
          <a:p>
            <a:pPr algn="ctr">
              <a:lnSpc>
                <a:spcPct val="112000"/>
              </a:lnSpc>
              <a:spcAft>
                <a:spcPts val="300"/>
              </a:spcAft>
            </a:pPr>
            <a:r>
              <a:rPr sz="950" b="0" i="0">
                <a:solidFill>
                  <a:srgbClr val="3A3A3A"/>
                </a:solidFill>
                <a:latin typeface="Calibri"/>
              </a:rPr>
              <a:t>ASE 2024 physics,</a:t>
            </a:r>
          </a:p>
          <a:p>
            <a:pPr algn="ctr">
              <a:lnSpc>
                <a:spcPct val="112000"/>
              </a:lnSpc>
              <a:spcAft>
                <a:spcPts val="300"/>
              </a:spcAft>
            </a:pPr>
            <a:r>
              <a:rPr sz="950" b="0" i="0">
                <a:solidFill>
                  <a:srgbClr val="3A3A3A"/>
                </a:solidFill>
                <a:latin typeface="Calibri"/>
              </a:rPr>
              <a:t>Velders 2024 noise</a:t>
            </a:r>
          </a:p>
        </p:txBody>
      </p:sp>
      <p:sp>
        <p:nvSpPr>
          <p:cNvPr id="27" name="TextBox 26"/>
          <p:cNvSpPr txBox="1"/>
          <p:nvPr/>
        </p:nvSpPr>
        <p:spPr>
          <a:xfrm>
            <a:off x="10241280" y="2331720"/>
            <a:ext cx="137160" cy="502920"/>
          </a:xfrm>
          <a:prstGeom prst="rect">
            <a:avLst/>
          </a:prstGeom>
          <a:noFill/>
        </p:spPr>
        <p:txBody>
          <a:bodyPr wrap="square" lIns="45720" rIns="45720" tIns="27432" bIns="27432" anchor="ctr">
            <a:spAutoFit/>
          </a:bodyPr>
          <a:lstStyle/>
          <a:p>
            <a:pPr algn="ctr">
              <a:lnSpc>
                <a:spcPct val="112000"/>
              </a:lnSpc>
              <a:spcAft>
                <a:spcPts val="300"/>
              </a:spcAft>
            </a:pPr>
            <a:r>
              <a:rPr sz="1300" b="1" i="0">
                <a:solidFill>
                  <a:srgbClr val="028090"/>
                </a:solidFill>
                <a:latin typeface="Calibri"/>
              </a:rPr>
              <a:t>→</a:t>
            </a:r>
          </a:p>
        </p:txBody>
      </p:sp>
      <p:sp>
        <p:nvSpPr>
          <p:cNvPr id="28" name="Rounded Rectangle 27"/>
          <p:cNvSpPr/>
          <p:nvPr/>
        </p:nvSpPr>
        <p:spPr>
          <a:xfrm>
            <a:off x="10378440" y="2103120"/>
            <a:ext cx="1280160" cy="960120"/>
          </a:xfrm>
          <a:prstGeom prst="roundRect">
            <a:avLst>
              <a:gd name="adj" fmla="val 5714"/>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24160" y="2130552"/>
            <a:ext cx="1188720" cy="914400"/>
          </a:xfrm>
          <a:prstGeom prst="rect">
            <a:avLst/>
          </a:prstGeom>
          <a:noFill/>
        </p:spPr>
        <p:txBody>
          <a:bodyPr wrap="square" lIns="45720" rIns="45720" tIns="27432" bIns="27432" anchor="ctr">
            <a:spAutoFit/>
          </a:bodyPr>
          <a:lstStyle/>
          <a:p>
            <a:pPr algn="ctr">
              <a:lnSpc>
                <a:spcPct val="112000"/>
              </a:lnSpc>
              <a:spcAft>
                <a:spcPts val="300"/>
              </a:spcAft>
            </a:pPr>
            <a:r>
              <a:rPr sz="950" b="0" i="0">
                <a:solidFill>
                  <a:srgbClr val="FFFFFF"/>
                </a:solidFill>
                <a:latin typeface="Calibri"/>
              </a:rPr>
              <a:t>10,000 valves,</a:t>
            </a:r>
          </a:p>
          <a:p>
            <a:pPr algn="ctr">
              <a:lnSpc>
                <a:spcPct val="112000"/>
              </a:lnSpc>
              <a:spcAft>
                <a:spcPts val="300"/>
              </a:spcAft>
            </a:pPr>
            <a:r>
              <a:rPr sz="950" b="0" i="0">
                <a:solidFill>
                  <a:srgbClr val="FFFFFF"/>
                </a:solidFill>
                <a:latin typeface="Calibri"/>
              </a:rPr>
              <a:t>50,849 echoes,</a:t>
            </a:r>
          </a:p>
          <a:p>
            <a:pPr algn="ctr">
              <a:lnSpc>
                <a:spcPct val="112000"/>
              </a:lnSpc>
              <a:spcAft>
                <a:spcPts val="300"/>
              </a:spcAft>
            </a:pPr>
            <a:r>
              <a:rPr sz="950" b="0" i="0">
                <a:solidFill>
                  <a:srgbClr val="FFFFFF"/>
                </a:solidFill>
                <a:latin typeface="Calibri"/>
              </a:rPr>
              <a:t>true state kept aside</a:t>
            </a:r>
          </a:p>
        </p:txBody>
      </p:sp>
      <p:pic>
        <p:nvPicPr>
          <p:cNvPr id="30" name="Picture 29" descr="chart_curves.png"/>
          <p:cNvPicPr>
            <a:picLocks noChangeAspect="1"/>
          </p:cNvPicPr>
          <p:nvPr/>
        </p:nvPicPr>
        <p:blipFill>
          <a:blip r:embed="rId2"/>
          <a:stretch>
            <a:fillRect/>
          </a:stretch>
        </p:blipFill>
        <p:spPr>
          <a:xfrm>
            <a:off x="6126480" y="3585977"/>
            <a:ext cx="5577840" cy="1423404"/>
          </a:xfrm>
          <a:prstGeom prst="rect">
            <a:avLst/>
          </a:prstGeom>
        </p:spPr>
      </p:pic>
      <p:sp>
        <p:nvSpPr>
          <p:cNvPr id="31" name="TextBox 30"/>
          <p:cNvSpPr txBox="1"/>
          <p:nvPr/>
        </p:nvSpPr>
        <p:spPr>
          <a:xfrm>
            <a:off x="6126480" y="5440680"/>
            <a:ext cx="5577840" cy="731520"/>
          </a:xfrm>
          <a:prstGeom prst="rect">
            <a:avLst/>
          </a:prstGeom>
          <a:noFill/>
        </p:spPr>
        <p:txBody>
          <a:bodyPr wrap="square" lIns="45720" rIns="45720" tIns="27432" bIns="27432" anchor="t">
            <a:spAutoFit/>
          </a:bodyPr>
          <a:lstStyle/>
          <a:p>
            <a:pPr algn="l">
              <a:lnSpc>
                <a:spcPct val="112000"/>
              </a:lnSpc>
              <a:spcAft>
                <a:spcPts val="300"/>
              </a:spcAft>
            </a:pPr>
            <a:r>
              <a:rPr sz="1050" b="0" i="1">
                <a:solidFill>
                  <a:srgbClr val="6B7590"/>
                </a:solidFill>
                <a:latin typeface="Calibri"/>
              </a:rPr>
              <a:t>Simulated (orange) vs reconstructed published curves (black): within 1–3 points. NOTION's surgical arm predicted with no free parameter: 21.6% vs 20.7% at 10 y.</a:t>
            </a:r>
          </a:p>
        </p:txBody>
      </p:sp>
      <p:sp>
        <p:nvSpPr>
          <p:cNvPr id="32" name="TextBox 31"/>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Guyot 2012 BMC Med Res Methodol  ·  Kermen 2022 JTCVS Open  ·  Thyregod 2024  ·  Wakami 2022 J Cardiothorac Surg  ·  Zoghbi 2024 JASE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Validation</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No peeking at the future, and death is a competing risk</a:t>
            </a:r>
          </a:p>
        </p:txBody>
      </p:sp>
      <p:pic>
        <p:nvPicPr>
          <p:cNvPr id="4" name="Picture 3" descr="fig_landmark.png"/>
          <p:cNvPicPr>
            <a:picLocks noChangeAspect="1"/>
          </p:cNvPicPr>
          <p:nvPr/>
        </p:nvPicPr>
        <p:blipFill>
          <a:blip r:embed="rId2"/>
          <a:stretch>
            <a:fillRect/>
          </a:stretch>
        </p:blipFill>
        <p:spPr>
          <a:xfrm>
            <a:off x="465992" y="1463040"/>
            <a:ext cx="6383215" cy="2514600"/>
          </a:xfrm>
          <a:prstGeom prst="rect">
            <a:avLst/>
          </a:prstGeom>
        </p:spPr>
      </p:pic>
      <p:sp>
        <p:nvSpPr>
          <p:cNvPr id="5" name="TextBox 4"/>
          <p:cNvSpPr txBox="1"/>
          <p:nvPr/>
        </p:nvSpPr>
        <p:spPr>
          <a:xfrm>
            <a:off x="548640" y="3931920"/>
            <a:ext cx="6217920" cy="411480"/>
          </a:xfrm>
          <a:prstGeom prst="rect">
            <a:avLst/>
          </a:prstGeom>
          <a:noFill/>
        </p:spPr>
        <p:txBody>
          <a:bodyPr wrap="square" lIns="45720" rIns="45720" tIns="27432" bIns="27432" anchor="t">
            <a:spAutoFit/>
          </a:bodyPr>
          <a:lstStyle/>
          <a:p>
            <a:pPr algn="l">
              <a:lnSpc>
                <a:spcPct val="112000"/>
              </a:lnSpc>
              <a:spcAft>
                <a:spcPts val="300"/>
              </a:spcAft>
            </a:pPr>
            <a:r>
              <a:rPr sz="1050" b="0" i="1">
                <a:solidFill>
                  <a:srgbClr val="6B7590"/>
                </a:solidFill>
                <a:latin typeface="Calibri"/>
              </a:rPr>
              <a:t>Every follow-up echo is a landmark: features use only the history up to it; the outcome is dated at the confirming echo.</a:t>
            </a:r>
          </a:p>
        </p:txBody>
      </p:sp>
      <p:pic>
        <p:nvPicPr>
          <p:cNvPr id="6" name="Picture 5" descr="chart_calibration.png"/>
          <p:cNvPicPr>
            <a:picLocks noChangeAspect="1"/>
          </p:cNvPicPr>
          <p:nvPr/>
        </p:nvPicPr>
        <p:blipFill>
          <a:blip r:embed="rId3"/>
          <a:stretch>
            <a:fillRect/>
          </a:stretch>
        </p:blipFill>
        <p:spPr>
          <a:xfrm>
            <a:off x="555413" y="4389120"/>
            <a:ext cx="2912533" cy="1965960"/>
          </a:xfrm>
          <a:prstGeom prst="rect">
            <a:avLst/>
          </a:prstGeom>
        </p:spPr>
      </p:pic>
      <p:pic>
        <p:nvPicPr>
          <p:cNvPr id="7" name="Picture 6" descr="chart_samplesize.png"/>
          <p:cNvPicPr>
            <a:picLocks noChangeAspect="1"/>
          </p:cNvPicPr>
          <p:nvPr/>
        </p:nvPicPr>
        <p:blipFill>
          <a:blip r:embed="rId4"/>
          <a:stretch>
            <a:fillRect/>
          </a:stretch>
        </p:blipFill>
        <p:spPr>
          <a:xfrm>
            <a:off x="3755813" y="4389120"/>
            <a:ext cx="2912533" cy="1965960"/>
          </a:xfrm>
          <a:prstGeom prst="rect">
            <a:avLst/>
          </a:prstGeom>
        </p:spPr>
      </p:pic>
      <p:sp>
        <p:nvSpPr>
          <p:cNvPr id="8" name="TextBox 7"/>
          <p:cNvSpPr txBox="1"/>
          <p:nvPr/>
        </p:nvSpPr>
        <p:spPr>
          <a:xfrm>
            <a:off x="7223760" y="1645920"/>
            <a:ext cx="438912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Design</a:t>
            </a:r>
          </a:p>
        </p:txBody>
      </p:sp>
      <p:sp>
        <p:nvSpPr>
          <p:cNvPr id="9" name="TextBox 8"/>
          <p:cNvSpPr txBox="1"/>
          <p:nvPr/>
        </p:nvSpPr>
        <p:spPr>
          <a:xfrm>
            <a:off x="7223760" y="1993392"/>
            <a:ext cx="438912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Split by valve, 70 / 15 / 15, bootstrap by valve. Death, endocarditis and other reintervention as competing risks. Temporal and external validation in the real study.</a:t>
            </a:r>
          </a:p>
        </p:txBody>
      </p:sp>
      <p:sp>
        <p:nvSpPr>
          <p:cNvPr id="10" name="TextBox 9"/>
          <p:cNvSpPr txBox="1"/>
          <p:nvPr/>
        </p:nvSpPr>
        <p:spPr>
          <a:xfrm>
            <a:off x="7223760" y="3246120"/>
            <a:ext cx="438912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Metrics</a:t>
            </a:r>
          </a:p>
        </p:txBody>
      </p:sp>
      <p:sp>
        <p:nvSpPr>
          <p:cNvPr id="11" name="TextBox 10"/>
          <p:cNvSpPr txBox="1"/>
          <p:nvPr/>
        </p:nvSpPr>
        <p:spPr>
          <a:xfrm>
            <a:off x="7223760" y="3593591"/>
            <a:ext cx="438912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Time-dependent AUC and C-index; calibration slope; echoes per patient-decade and delay to confirmed detection. Reported separately on echoes not yet abnormal.</a:t>
            </a:r>
          </a:p>
        </p:txBody>
      </p:sp>
      <p:sp>
        <p:nvSpPr>
          <p:cNvPr id="12" name="TextBox 11"/>
          <p:cNvSpPr txBox="1"/>
          <p:nvPr/>
        </p:nvSpPr>
        <p:spPr>
          <a:xfrm>
            <a:off x="7223760" y="4846320"/>
            <a:ext cx="438912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Comparators</a:t>
            </a:r>
          </a:p>
        </p:txBody>
      </p:sp>
      <p:sp>
        <p:nvSpPr>
          <p:cNvPr id="13" name="TextBox 12"/>
          <p:cNvSpPr txBox="1"/>
          <p:nvPr/>
        </p:nvSpPr>
        <p:spPr>
          <a:xfrm>
            <a:off x="7223760" y="5193792"/>
            <a:ext cx="438912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Time since implant alone; the published risk-factor Cox model; for surveillance, the guideline schedule with and without a confirmation echo.</a:t>
            </a:r>
          </a:p>
        </p:txBody>
      </p:sp>
      <p:sp>
        <p:nvSpPr>
          <p:cNvPr id="14" name="TextBox 13"/>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Uno 2011 Stat Med  ·  Austin &amp; Fine 2017 Stat Med  ·  Collins 2024 BMJ (TRIPOD+AI)  ·  Riley 2020 BMJ</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Model</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A hazard at every echo, turned into a date for the next one</a:t>
            </a:r>
          </a:p>
        </p:txBody>
      </p:sp>
      <p:pic>
        <p:nvPicPr>
          <p:cNvPr id="4" name="Picture 3" descr="fig_model.png"/>
          <p:cNvPicPr>
            <a:picLocks noChangeAspect="1"/>
          </p:cNvPicPr>
          <p:nvPr/>
        </p:nvPicPr>
        <p:blipFill>
          <a:blip r:embed="rId2"/>
          <a:stretch>
            <a:fillRect/>
          </a:stretch>
        </p:blipFill>
        <p:spPr>
          <a:xfrm>
            <a:off x="457200" y="1554480"/>
            <a:ext cx="6400800" cy="3200400"/>
          </a:xfrm>
          <a:prstGeom prst="rect">
            <a:avLst/>
          </a:prstGeom>
        </p:spPr>
      </p:pic>
      <p:sp>
        <p:nvSpPr>
          <p:cNvPr id="5" name="TextBox 4"/>
          <p:cNvSpPr txBox="1"/>
          <p:nvPr/>
        </p:nvSpPr>
        <p:spPr>
          <a:xfrm>
            <a:off x="548640" y="4846320"/>
            <a:ext cx="6217920" cy="1097280"/>
          </a:xfrm>
          <a:prstGeom prst="rect">
            <a:avLst/>
          </a:prstGeom>
          <a:noFill/>
        </p:spPr>
        <p:txBody>
          <a:bodyPr wrap="square" lIns="45720" rIns="45720" tIns="27432" bIns="27432" anchor="t">
            <a:spAutoFit/>
          </a:bodyPr>
          <a:lstStyle/>
          <a:p>
            <a:pPr algn="l">
              <a:lnSpc>
                <a:spcPct val="112000"/>
              </a:lnSpc>
              <a:spcAft>
                <a:spcPts val="300"/>
              </a:spcAft>
            </a:pPr>
            <a:r>
              <a:rPr sz="1300" b="0" i="0">
                <a:solidFill>
                  <a:srgbClr val="3A3A3A"/>
                </a:solidFill>
                <a:latin typeface="Calibri"/>
              </a:rPr>
              <a:t>Discrete-time cause-specific hazard model: survival × hazard summed over 6-month periods gives the cumulative incidence over any horizon, so one model answers "what is the risk if we wait 6, 12, 24 or 36 months?"</a:t>
            </a:r>
          </a:p>
        </p:txBody>
      </p:sp>
      <p:pic>
        <p:nvPicPr>
          <p:cNvPr id="6" name="Picture 5" descr="chart_shap.png"/>
          <p:cNvPicPr>
            <a:picLocks noChangeAspect="1"/>
          </p:cNvPicPr>
          <p:nvPr/>
        </p:nvPicPr>
        <p:blipFill>
          <a:blip r:embed="rId3"/>
          <a:stretch>
            <a:fillRect/>
          </a:stretch>
        </p:blipFill>
        <p:spPr>
          <a:xfrm>
            <a:off x="7040880" y="1600200"/>
            <a:ext cx="4754880" cy="2377440"/>
          </a:xfrm>
          <a:prstGeom prst="rect">
            <a:avLst/>
          </a:prstGeom>
        </p:spPr>
      </p:pic>
      <p:sp>
        <p:nvSpPr>
          <p:cNvPr id="7" name="TextBox 6"/>
          <p:cNvSpPr txBox="1"/>
          <p:nvPr/>
        </p:nvSpPr>
        <p:spPr>
          <a:xfrm>
            <a:off x="7223760" y="4160520"/>
            <a:ext cx="457200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What the clinician sees</a:t>
            </a:r>
          </a:p>
        </p:txBody>
      </p:sp>
      <p:sp>
        <p:nvSpPr>
          <p:cNvPr id="8" name="TextBox 7"/>
          <p:cNvSpPr txBox="1"/>
          <p:nvPr/>
        </p:nvSpPr>
        <p:spPr>
          <a:xfrm>
            <a:off x="7223760" y="4507992"/>
            <a:ext cx="457200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Risk at 1–5 years, a tier, the top drivers and the next echo interval. Test-set example: "9.9 y after TAVR: 5-y risk 5.1%, moderate; drivers TAVR ↓, gradient +4.9 mmHg ↑, time since implant ↑."</a:t>
            </a:r>
          </a:p>
        </p:txBody>
      </p:sp>
      <p:sp>
        <p:nvSpPr>
          <p:cNvPr id="9" name="TextBox 8"/>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Rizopoulos 2016 Biostatistics (personalised screening intervals)  ·  Lee 2018 AAAI (DeepHit) and Ishwaran 2008 (random survival forests) as next steps at registry scale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1E2761"/>
                </a:solidFill>
                <a:latin typeface="Cambria"/>
              </a:rPr>
              <a:t>Results on the synthetic test set</a:t>
            </a:r>
          </a:p>
        </p:txBody>
      </p:sp>
      <p:sp>
        <p:nvSpPr>
          <p:cNvPr id="3" name="TextBox 2"/>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6B7590"/>
                </a:solidFill>
                <a:latin typeface="Calibri"/>
              </a:rPr>
              <a:t>1,401 held-out valves; every pre-specified bar cleared</a:t>
            </a:r>
          </a:p>
        </p:txBody>
      </p:sp>
      <p:pic>
        <p:nvPicPr>
          <p:cNvPr id="4" name="Picture 3" descr="chart_auc.png"/>
          <p:cNvPicPr>
            <a:picLocks noChangeAspect="1"/>
          </p:cNvPicPr>
          <p:nvPr/>
        </p:nvPicPr>
        <p:blipFill>
          <a:blip r:embed="rId2"/>
          <a:stretch>
            <a:fillRect/>
          </a:stretch>
        </p:blipFill>
        <p:spPr>
          <a:xfrm>
            <a:off x="671945" y="1463040"/>
            <a:ext cx="5239789" cy="2788920"/>
          </a:xfrm>
          <a:prstGeom prst="rect">
            <a:avLst/>
          </a:prstGeom>
        </p:spPr>
      </p:pic>
      <p:pic>
        <p:nvPicPr>
          <p:cNvPr id="5" name="Picture 4" descr="chart_policy.png"/>
          <p:cNvPicPr>
            <a:picLocks noChangeAspect="1"/>
          </p:cNvPicPr>
          <p:nvPr/>
        </p:nvPicPr>
        <p:blipFill>
          <a:blip r:embed="rId3"/>
          <a:stretch>
            <a:fillRect/>
          </a:stretch>
        </p:blipFill>
        <p:spPr>
          <a:xfrm>
            <a:off x="6513714" y="1463040"/>
            <a:ext cx="4986250" cy="2788920"/>
          </a:xfrm>
          <a:prstGeom prst="rect">
            <a:avLst/>
          </a:prstGeom>
        </p:spPr>
      </p:pic>
      <p:sp>
        <p:nvSpPr>
          <p:cNvPr id="6" name="TextBox 5"/>
          <p:cNvSpPr txBox="1"/>
          <p:nvPr/>
        </p:nvSpPr>
        <p:spPr>
          <a:xfrm>
            <a:off x="548640" y="4343400"/>
            <a:ext cx="539496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Prediction</a:t>
            </a:r>
          </a:p>
        </p:txBody>
      </p:sp>
      <p:sp>
        <p:nvSpPr>
          <p:cNvPr id="7" name="TextBox 6"/>
          <p:cNvSpPr txBox="1"/>
          <p:nvPr/>
        </p:nvSpPr>
        <p:spPr>
          <a:xfrm>
            <a:off x="548640" y="4690872"/>
            <a:ext cx="539496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AUC 0.875 (0.85–0.90) on echoes not yet abnormal, against 0.65 for time since implant; calibration slope 1.04. At implant, 0.865 vs 0.756 for the published risk-factor Cox.</a:t>
            </a:r>
          </a:p>
        </p:txBody>
      </p:sp>
      <p:sp>
        <p:nvSpPr>
          <p:cNvPr id="8" name="TextBox 7"/>
          <p:cNvSpPr txBox="1"/>
          <p:nvPr/>
        </p:nvSpPr>
        <p:spPr>
          <a:xfrm>
            <a:off x="6172200" y="4343400"/>
            <a:ext cx="5486400" cy="365760"/>
          </a:xfrm>
          <a:prstGeom prst="rect">
            <a:avLst/>
          </a:prstGeom>
          <a:noFill/>
        </p:spPr>
        <p:txBody>
          <a:bodyPr wrap="square" lIns="45720" rIns="45720" tIns="27432" bIns="27432" anchor="t">
            <a:spAutoFit/>
          </a:bodyPr>
          <a:lstStyle/>
          <a:p>
            <a:pPr algn="l">
              <a:lnSpc>
                <a:spcPct val="112000"/>
              </a:lnSpc>
              <a:spcAft>
                <a:spcPts val="300"/>
              </a:spcAft>
            </a:pPr>
            <a:r>
              <a:rPr sz="1400" b="1" i="0">
                <a:solidFill>
                  <a:srgbClr val="1E2761"/>
                </a:solidFill>
                <a:latin typeface="Calibri"/>
              </a:rPr>
              <a:t>Surveillance</a:t>
            </a:r>
          </a:p>
        </p:txBody>
      </p:sp>
      <p:sp>
        <p:nvSpPr>
          <p:cNvPr id="9" name="TextBox 8"/>
          <p:cNvSpPr txBox="1"/>
          <p:nvPr/>
        </p:nvSpPr>
        <p:spPr>
          <a:xfrm>
            <a:off x="6172200" y="4690872"/>
            <a:ext cx="5486400" cy="1097280"/>
          </a:xfrm>
          <a:prstGeom prst="rect">
            <a:avLst/>
          </a:prstGeom>
          <a:noFill/>
        </p:spPr>
        <p:txBody>
          <a:bodyPr wrap="square" lIns="45720" rIns="45720" tIns="27432" bIns="27432" anchor="t">
            <a:spAutoFit/>
          </a:bodyPr>
          <a:lstStyle/>
          <a:p>
            <a:pPr algn="l">
              <a:lnSpc>
                <a:spcPct val="112000"/>
              </a:lnSpc>
              <a:spcAft>
                <a:spcPts val="300"/>
              </a:spcAft>
            </a:pPr>
            <a:r>
              <a:rPr sz="1400" b="0" i="0">
                <a:solidFill>
                  <a:srgbClr val="3A3A3A"/>
                </a:solidFill>
                <a:latin typeface="Calibri"/>
              </a:rPr>
              <a:t>The confirmation echo alone cuts the mean delay from 1.5 to 1.1 years. The 1% rule then uses 44% fewer echoes than guideline + confirmation at +0.7 months mean delay, inside the 3-month bound.</a:t>
            </a:r>
          </a:p>
        </p:txBody>
      </p:sp>
      <p:sp>
        <p:nvSpPr>
          <p:cNvPr id="10" name="TextBox 9"/>
          <p:cNvSpPr txBox="1"/>
          <p:nvPr/>
        </p:nvSpPr>
        <p:spPr>
          <a:xfrm>
            <a:off x="548640" y="5833872"/>
            <a:ext cx="11064240" cy="548640"/>
          </a:xfrm>
          <a:prstGeom prst="rect">
            <a:avLst/>
          </a:prstGeom>
          <a:noFill/>
        </p:spPr>
        <p:txBody>
          <a:bodyPr wrap="square" lIns="45720" rIns="45720" tIns="27432" bIns="27432" anchor="t">
            <a:spAutoFit/>
          </a:bodyPr>
          <a:lstStyle/>
          <a:p>
            <a:pPr algn="l">
              <a:lnSpc>
                <a:spcPct val="112000"/>
              </a:lnSpc>
              <a:spcAft>
                <a:spcPts val="300"/>
              </a:spcAft>
            </a:pPr>
            <a:r>
              <a:rPr sz="1250" b="0" i="0">
                <a:solidFill>
                  <a:srgbClr val="3A3A3A"/>
                </a:solidFill>
                <a:latin typeface="Calibri"/>
              </a:rPr>
              <a:t>Audit against the simulator's truth: even the confirmed VARC-3 label detects 60% of true deterioration, median lag 1.5 years. On 26 real de-identified patients the label rule was 86% sensitive and 89% specific (face validity only).</a:t>
            </a:r>
          </a:p>
        </p:txBody>
      </p:sp>
      <p:sp>
        <p:nvSpPr>
          <p:cNvPr id="11" name="TextBox 10"/>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6B7590"/>
                </a:solidFill>
                <a:latin typeface="Calibri"/>
              </a:rPr>
              <a:t>All numbers: notebooks/analysis/output/results_summary.md  ·  real-data check: notebooks/real_data_check/  ·  full report: report/main.pdf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281160" y="-1691640"/>
            <a:ext cx="5029200" cy="5029200"/>
          </a:xfrm>
          <a:prstGeom prst="ellipse">
            <a:avLst/>
          </a:prstGeom>
          <a:solidFill>
            <a:srgbClr val="2431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731520"/>
          </a:xfrm>
          <a:prstGeom prst="rect">
            <a:avLst/>
          </a:prstGeom>
          <a:noFill/>
        </p:spPr>
        <p:txBody>
          <a:bodyPr wrap="square" lIns="45720" rIns="45720" tIns="27432" bIns="27432" anchor="t">
            <a:spAutoFit/>
          </a:bodyPr>
          <a:lstStyle/>
          <a:p>
            <a:pPr algn="l">
              <a:lnSpc>
                <a:spcPct val="112000"/>
              </a:lnSpc>
              <a:spcAft>
                <a:spcPts val="300"/>
              </a:spcAft>
            </a:pPr>
            <a:r>
              <a:rPr sz="3200" b="1" i="0">
                <a:solidFill>
                  <a:srgbClr val="FFFFFF"/>
                </a:solidFill>
                <a:latin typeface="Cambria"/>
              </a:rPr>
              <a:t>Impact and next steps</a:t>
            </a:r>
          </a:p>
        </p:txBody>
      </p:sp>
      <p:sp>
        <p:nvSpPr>
          <p:cNvPr id="4" name="TextBox 3"/>
          <p:cNvSpPr txBox="1"/>
          <p:nvPr/>
        </p:nvSpPr>
        <p:spPr>
          <a:xfrm>
            <a:off x="548640" y="1051560"/>
            <a:ext cx="10972800" cy="411480"/>
          </a:xfrm>
          <a:prstGeom prst="rect">
            <a:avLst/>
          </a:prstGeom>
          <a:noFill/>
        </p:spPr>
        <p:txBody>
          <a:bodyPr wrap="square" lIns="45720" rIns="45720" tIns="27432" bIns="27432" anchor="t">
            <a:spAutoFit/>
          </a:bodyPr>
          <a:lstStyle/>
          <a:p>
            <a:pPr algn="l">
              <a:lnSpc>
                <a:spcPct val="112000"/>
              </a:lnSpc>
              <a:spcAft>
                <a:spcPts val="300"/>
              </a:spcAft>
            </a:pPr>
            <a:r>
              <a:rPr sz="1500" b="0" i="1">
                <a:solidFill>
                  <a:srgbClr val="CADCFC"/>
                </a:solidFill>
                <a:latin typeface="Calibri"/>
              </a:rPr>
              <a:t>What changes, and what it will take to prove it</a:t>
            </a:r>
          </a:p>
        </p:txBody>
      </p:sp>
      <p:sp>
        <p:nvSpPr>
          <p:cNvPr id="5" name="TextBox 4"/>
          <p:cNvSpPr txBox="1"/>
          <p:nvPr/>
        </p:nvSpPr>
        <p:spPr>
          <a:xfrm>
            <a:off x="822960" y="1737360"/>
            <a:ext cx="5029200" cy="411480"/>
          </a:xfrm>
          <a:prstGeom prst="rect">
            <a:avLst/>
          </a:prstGeom>
          <a:noFill/>
        </p:spPr>
        <p:txBody>
          <a:bodyPr wrap="square" lIns="45720" rIns="45720" tIns="27432" bIns="27432" anchor="t">
            <a:spAutoFit/>
          </a:bodyPr>
          <a:lstStyle/>
          <a:p>
            <a:pPr algn="l">
              <a:lnSpc>
                <a:spcPct val="112000"/>
              </a:lnSpc>
              <a:spcAft>
                <a:spcPts val="300"/>
              </a:spcAft>
            </a:pPr>
            <a:r>
              <a:rPr sz="1600" b="1" i="0">
                <a:solidFill>
                  <a:srgbClr val="028090"/>
                </a:solidFill>
                <a:latin typeface="Calibri"/>
              </a:rPr>
              <a:t>What it enables</a:t>
            </a:r>
          </a:p>
        </p:txBody>
      </p:sp>
      <p:sp>
        <p:nvSpPr>
          <p:cNvPr id="6" name="TextBox 5"/>
          <p:cNvSpPr txBox="1"/>
          <p:nvPr/>
        </p:nvSpPr>
        <p:spPr>
          <a:xfrm>
            <a:off x="822960" y="2194560"/>
            <a:ext cx="5029200" cy="1371600"/>
          </a:xfrm>
          <a:prstGeom prst="rect">
            <a:avLst/>
          </a:prstGeom>
          <a:noFill/>
        </p:spPr>
        <p:txBody>
          <a:bodyPr wrap="square" lIns="45720" rIns="45720" tIns="27432" bIns="27432" anchor="t">
            <a:spAutoFit/>
          </a:bodyPr>
          <a:lstStyle/>
          <a:p>
            <a:pPr algn="l">
              <a:lnSpc>
                <a:spcPct val="112000"/>
              </a:lnSpc>
              <a:spcAft>
                <a:spcPts val="300"/>
              </a:spcAft>
            </a:pPr>
            <a:r>
              <a:rPr sz="1450" b="0" i="0">
                <a:solidFill>
                  <a:srgbClr val="FFFFFF"/>
                </a:solidFill>
                <a:latin typeface="Calibri"/>
              </a:rPr>
              <a:t>A surveillance interval per valve, recomputed at every echo, with a confirmation rule built in; and an audit of the SVD definitions against the truth.</a:t>
            </a:r>
          </a:p>
        </p:txBody>
      </p:sp>
      <p:sp>
        <p:nvSpPr>
          <p:cNvPr id="7" name="TextBox 6"/>
          <p:cNvSpPr txBox="1"/>
          <p:nvPr/>
        </p:nvSpPr>
        <p:spPr>
          <a:xfrm>
            <a:off x="6400800" y="1737360"/>
            <a:ext cx="5029200" cy="411480"/>
          </a:xfrm>
          <a:prstGeom prst="rect">
            <a:avLst/>
          </a:prstGeom>
          <a:noFill/>
        </p:spPr>
        <p:txBody>
          <a:bodyPr wrap="square" lIns="45720" rIns="45720" tIns="27432" bIns="27432" anchor="t">
            <a:spAutoFit/>
          </a:bodyPr>
          <a:lstStyle/>
          <a:p>
            <a:pPr algn="l">
              <a:lnSpc>
                <a:spcPct val="112000"/>
              </a:lnSpc>
              <a:spcAft>
                <a:spcPts val="300"/>
              </a:spcAft>
            </a:pPr>
            <a:r>
              <a:rPr sz="1600" b="1" i="0">
                <a:solidFill>
                  <a:srgbClr val="028090"/>
                </a:solidFill>
                <a:latin typeface="Calibri"/>
              </a:rPr>
              <a:t>What validation needs</a:t>
            </a:r>
          </a:p>
        </p:txBody>
      </p:sp>
      <p:sp>
        <p:nvSpPr>
          <p:cNvPr id="8" name="TextBox 7"/>
          <p:cNvSpPr txBox="1"/>
          <p:nvPr/>
        </p:nvSpPr>
        <p:spPr>
          <a:xfrm>
            <a:off x="6400800" y="2194560"/>
            <a:ext cx="5029200" cy="1371600"/>
          </a:xfrm>
          <a:prstGeom prst="rect">
            <a:avLst/>
          </a:prstGeom>
          <a:noFill/>
        </p:spPr>
        <p:txBody>
          <a:bodyPr wrap="square" lIns="45720" rIns="45720" tIns="27432" bIns="27432" anchor="t">
            <a:spAutoFit/>
          </a:bodyPr>
          <a:lstStyle/>
          <a:p>
            <a:pPr algn="l">
              <a:lnSpc>
                <a:spcPct val="112000"/>
              </a:lnSpc>
              <a:spcAft>
                <a:spcPts val="300"/>
              </a:spcAft>
            </a:pPr>
            <a:r>
              <a:rPr sz="1450" b="0" i="0">
                <a:solidFill>
                  <a:srgbClr val="FFFFFF"/>
                </a:solidFill>
                <a:latin typeface="Calibri"/>
              </a:rPr>
              <a:t>A linked echo database with STS/TVT at three or more centres, with exact dates and ages; then external validation in a second health system.</a:t>
            </a:r>
          </a:p>
        </p:txBody>
      </p:sp>
      <p:sp>
        <p:nvSpPr>
          <p:cNvPr id="9" name="TextBox 8"/>
          <p:cNvSpPr txBox="1"/>
          <p:nvPr/>
        </p:nvSpPr>
        <p:spPr>
          <a:xfrm>
            <a:off x="822960" y="3749039"/>
            <a:ext cx="5029200" cy="411480"/>
          </a:xfrm>
          <a:prstGeom prst="rect">
            <a:avLst/>
          </a:prstGeom>
          <a:noFill/>
        </p:spPr>
        <p:txBody>
          <a:bodyPr wrap="square" lIns="45720" rIns="45720" tIns="27432" bIns="27432" anchor="t">
            <a:spAutoFit/>
          </a:bodyPr>
          <a:lstStyle/>
          <a:p>
            <a:pPr algn="l">
              <a:lnSpc>
                <a:spcPct val="112000"/>
              </a:lnSpc>
              <a:spcAft>
                <a:spcPts val="300"/>
              </a:spcAft>
            </a:pPr>
            <a:r>
              <a:rPr sz="1600" b="1" i="0">
                <a:solidFill>
                  <a:srgbClr val="028090"/>
                </a:solidFill>
                <a:latin typeface="Calibri"/>
              </a:rPr>
              <a:t>Next three months</a:t>
            </a:r>
          </a:p>
        </p:txBody>
      </p:sp>
      <p:sp>
        <p:nvSpPr>
          <p:cNvPr id="10" name="TextBox 9"/>
          <p:cNvSpPr txBox="1"/>
          <p:nvPr/>
        </p:nvSpPr>
        <p:spPr>
          <a:xfrm>
            <a:off x="822960" y="4206240"/>
            <a:ext cx="5029200" cy="1371600"/>
          </a:xfrm>
          <a:prstGeom prst="rect">
            <a:avLst/>
          </a:prstGeom>
          <a:noFill/>
        </p:spPr>
        <p:txBody>
          <a:bodyPr wrap="square" lIns="45720" rIns="45720" tIns="27432" bIns="27432" anchor="t">
            <a:spAutoFit/>
          </a:bodyPr>
          <a:lstStyle/>
          <a:p>
            <a:pPr algn="l">
              <a:lnSpc>
                <a:spcPct val="112000"/>
              </a:lnSpc>
              <a:spcAft>
                <a:spcPts val="300"/>
              </a:spcAft>
            </a:pPr>
            <a:r>
              <a:rPr sz="1450" b="0" i="0">
                <a:solidFill>
                  <a:srgbClr val="FFFFFF"/>
                </a:solidFill>
                <a:latin typeface="Calibri"/>
              </a:rPr>
              <a:t>Run the same pipeline on one institution's echo database (the schema is registry-shaped), then evaluate it in silent mode.</a:t>
            </a:r>
          </a:p>
        </p:txBody>
      </p:sp>
      <p:sp>
        <p:nvSpPr>
          <p:cNvPr id="11" name="TextBox 10"/>
          <p:cNvSpPr txBox="1"/>
          <p:nvPr/>
        </p:nvSpPr>
        <p:spPr>
          <a:xfrm>
            <a:off x="6400800" y="3749039"/>
            <a:ext cx="5029200" cy="411480"/>
          </a:xfrm>
          <a:prstGeom prst="rect">
            <a:avLst/>
          </a:prstGeom>
          <a:noFill/>
        </p:spPr>
        <p:txBody>
          <a:bodyPr wrap="square" lIns="45720" rIns="45720" tIns="27432" bIns="27432" anchor="t">
            <a:spAutoFit/>
          </a:bodyPr>
          <a:lstStyle/>
          <a:p>
            <a:pPr algn="l">
              <a:lnSpc>
                <a:spcPct val="112000"/>
              </a:lnSpc>
              <a:spcAft>
                <a:spcPts val="300"/>
              </a:spcAft>
            </a:pPr>
            <a:r>
              <a:rPr sz="1600" b="1" i="0">
                <a:solidFill>
                  <a:srgbClr val="028090"/>
                </a:solidFill>
                <a:latin typeface="Calibri"/>
              </a:rPr>
              <a:t>Readiness</a:t>
            </a:r>
          </a:p>
        </p:txBody>
      </p:sp>
      <p:sp>
        <p:nvSpPr>
          <p:cNvPr id="12" name="TextBox 11"/>
          <p:cNvSpPr txBox="1"/>
          <p:nvPr/>
        </p:nvSpPr>
        <p:spPr>
          <a:xfrm>
            <a:off x="6400800" y="4206240"/>
            <a:ext cx="5029200" cy="1371600"/>
          </a:xfrm>
          <a:prstGeom prst="rect">
            <a:avLst/>
          </a:prstGeom>
          <a:noFill/>
        </p:spPr>
        <p:txBody>
          <a:bodyPr wrap="square" lIns="45720" rIns="45720" tIns="27432" bIns="27432" anchor="t">
            <a:spAutoFit/>
          </a:bodyPr>
          <a:lstStyle/>
          <a:p>
            <a:pPr algn="l">
              <a:lnSpc>
                <a:spcPct val="112000"/>
              </a:lnSpc>
              <a:spcAft>
                <a:spcPts val="300"/>
              </a:spcAft>
            </a:pPr>
            <a:r>
              <a:rPr sz="1450" b="0" i="0">
                <a:solidFill>
                  <a:srgbClr val="FFFFFF"/>
                </a:solidFill>
                <a:latin typeface="Calibri"/>
              </a:rPr>
              <a:t>Code and reports are public and reproducible. Real-world performance is unproven until external validation; the system schedules surveillance and never recommends reintervention.</a:t>
            </a:r>
          </a:p>
        </p:txBody>
      </p:sp>
      <p:sp>
        <p:nvSpPr>
          <p:cNvPr id="13" name="TextBox 12"/>
          <p:cNvSpPr txBox="1"/>
          <p:nvPr/>
        </p:nvSpPr>
        <p:spPr>
          <a:xfrm>
            <a:off x="822960" y="5760720"/>
            <a:ext cx="10515600" cy="411480"/>
          </a:xfrm>
          <a:prstGeom prst="rect">
            <a:avLst/>
          </a:prstGeom>
          <a:noFill/>
        </p:spPr>
        <p:txBody>
          <a:bodyPr wrap="square" lIns="45720" rIns="45720" tIns="27432" bIns="27432" anchor="t">
            <a:spAutoFit/>
          </a:bodyPr>
          <a:lstStyle/>
          <a:p>
            <a:pPr algn="ctr">
              <a:lnSpc>
                <a:spcPct val="112000"/>
              </a:lnSpc>
              <a:spcAft>
                <a:spcPts val="300"/>
              </a:spcAft>
            </a:pPr>
            <a:r>
              <a:rPr sz="1300" b="0" i="0">
                <a:solidFill>
                  <a:srgbClr val="CADCFC"/>
                </a:solidFill>
                <a:latin typeface="Calibri"/>
              </a:rPr>
              <a:t>Team CardioNTUA  ·  github.com/abarmper/Dyania-Docathon  ·  report/main.pdf</a:t>
            </a:r>
          </a:p>
        </p:txBody>
      </p:sp>
      <p:sp>
        <p:nvSpPr>
          <p:cNvPr id="14" name="TextBox 13"/>
          <p:cNvSpPr txBox="1"/>
          <p:nvPr/>
        </p:nvSpPr>
        <p:spPr>
          <a:xfrm>
            <a:off x="548640" y="6400800"/>
            <a:ext cx="11064240" cy="365760"/>
          </a:xfrm>
          <a:prstGeom prst="rect">
            <a:avLst/>
          </a:prstGeom>
          <a:noFill/>
        </p:spPr>
        <p:txBody>
          <a:bodyPr wrap="square" lIns="45720" rIns="45720" tIns="27432" bIns="27432" anchor="t">
            <a:spAutoFit/>
          </a:bodyPr>
          <a:lstStyle/>
          <a:p>
            <a:pPr algn="l">
              <a:lnSpc>
                <a:spcPct val="112000"/>
              </a:lnSpc>
              <a:spcAft>
                <a:spcPts val="300"/>
              </a:spcAft>
            </a:pPr>
            <a:r>
              <a:rPr sz="1000" b="0" i="0">
                <a:solidFill>
                  <a:srgbClr val="CADCFC"/>
                </a:solidFill>
                <a:latin typeface="Calibri"/>
              </a:rPr>
              <a:t>Hofmann 2024 Diagnostics (risk-adapted imaging surveillance precedent)  ·  Genereux 2025 Struct Heart  ·  Collins 2024 BMJ (TRIPOD+AI)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